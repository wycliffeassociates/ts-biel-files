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82" r:id="rId5"/>
    <p:sldId id="320" r:id="rId6"/>
    <p:sldId id="294" r:id="rId7"/>
    <p:sldId id="331" r:id="rId8"/>
    <p:sldId id="287" r:id="rId9"/>
    <p:sldId id="258" r:id="rId10"/>
    <p:sldId id="341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93"/>
    <a:srgbClr val="B95659"/>
    <a:srgbClr val="5935A0"/>
    <a:srgbClr val="005595"/>
    <a:srgbClr val="0093CB"/>
    <a:srgbClr val="716557"/>
    <a:srgbClr val="83A83F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0"/>
  </p:normalViewPr>
  <p:slideViewPr>
    <p:cSldViewPr snapToGrid="0">
      <p:cViewPr varScale="1">
        <p:scale>
          <a:sx n="75" d="100"/>
          <a:sy n="75" d="100"/>
        </p:scale>
        <p:origin x="86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bie Shaw" userId="79bf7848-a030-4096-934a-3abbfde4984a" providerId="ADAL" clId="{8DE9E9FB-001C-4B84-83DE-E1F7ABB9FAA3}"/>
    <pc:docChg chg="undo custSel addSld delSld modSld">
      <pc:chgData name="Debbie Shaw" userId="79bf7848-a030-4096-934a-3abbfde4984a" providerId="ADAL" clId="{8DE9E9FB-001C-4B84-83DE-E1F7ABB9FAA3}" dt="2026-07-15T18:51:12.014" v="265" actId="207"/>
      <pc:docMkLst>
        <pc:docMk/>
      </pc:docMkLst>
      <pc:sldChg chg="modSp mod">
        <pc:chgData name="Debbie Shaw" userId="79bf7848-a030-4096-934a-3abbfde4984a" providerId="ADAL" clId="{8DE9E9FB-001C-4B84-83DE-E1F7ABB9FAA3}" dt="2026-07-15T18:45:54.290" v="23" actId="1076"/>
        <pc:sldMkLst>
          <pc:docMk/>
          <pc:sldMk cId="3086459755" sldId="280"/>
        </pc:sldMkLst>
        <pc:spChg chg="mod">
          <ac:chgData name="Debbie Shaw" userId="79bf7848-a030-4096-934a-3abbfde4984a" providerId="ADAL" clId="{8DE9E9FB-001C-4B84-83DE-E1F7ABB9FAA3}" dt="2026-07-15T18:45:54.290" v="23" actId="1076"/>
          <ac:spMkLst>
            <pc:docMk/>
            <pc:sldMk cId="3086459755" sldId="280"/>
            <ac:spMk id="3" creationId="{7C79D32C-8596-5E24-E259-44860B057205}"/>
          </ac:spMkLst>
        </pc:spChg>
      </pc:sldChg>
      <pc:sldChg chg="modSp mod">
        <pc:chgData name="Debbie Shaw" userId="79bf7848-a030-4096-934a-3abbfde4984a" providerId="ADAL" clId="{8DE9E9FB-001C-4B84-83DE-E1F7ABB9FAA3}" dt="2026-07-15T18:44:44.814" v="15" actId="207"/>
        <pc:sldMkLst>
          <pc:docMk/>
          <pc:sldMk cId="904332746" sldId="282"/>
        </pc:sldMkLst>
        <pc:spChg chg="mod">
          <ac:chgData name="Debbie Shaw" userId="79bf7848-a030-4096-934a-3abbfde4984a" providerId="ADAL" clId="{8DE9E9FB-001C-4B84-83DE-E1F7ABB9FAA3}" dt="2026-07-15T18:44:44.814" v="15" actId="207"/>
          <ac:spMkLst>
            <pc:docMk/>
            <pc:sldMk cId="904332746" sldId="282"/>
            <ac:spMk id="2" creationId="{D9BB947E-7334-E4EF-81B9-277A43A4AC6E}"/>
          </ac:spMkLst>
        </pc:spChg>
      </pc:sldChg>
      <pc:sldChg chg="del">
        <pc:chgData name="Debbie Shaw" userId="79bf7848-a030-4096-934a-3abbfde4984a" providerId="ADAL" clId="{8DE9E9FB-001C-4B84-83DE-E1F7ABB9FAA3}" dt="2026-07-15T18:41:22.243" v="1" actId="2696"/>
        <pc:sldMkLst>
          <pc:docMk/>
          <pc:sldMk cId="529853859" sldId="340"/>
        </pc:sldMkLst>
      </pc:sldChg>
      <pc:sldChg chg="modSp add mod">
        <pc:chgData name="Debbie Shaw" userId="79bf7848-a030-4096-934a-3abbfde4984a" providerId="ADAL" clId="{8DE9E9FB-001C-4B84-83DE-E1F7ABB9FAA3}" dt="2026-07-15T18:51:12.014" v="265" actId="207"/>
        <pc:sldMkLst>
          <pc:docMk/>
          <pc:sldMk cId="1959578013" sldId="341"/>
        </pc:sldMkLst>
        <pc:spChg chg="mod">
          <ac:chgData name="Debbie Shaw" userId="79bf7848-a030-4096-934a-3abbfde4984a" providerId="ADAL" clId="{8DE9E9FB-001C-4B84-83DE-E1F7ABB9FAA3}" dt="2026-07-15T18:51:12.014" v="265" actId="207"/>
          <ac:spMkLst>
            <pc:docMk/>
            <pc:sldMk cId="1959578013" sldId="341"/>
            <ac:spMk id="31" creationId="{CB115C94-20A3-7B17-013E-18B78BA155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3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pngimg.com/png/78078-festival-fireworks-illustration-royalty-free-festivals-draw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Refinement Workshop</a:t>
            </a:r>
          </a:p>
        </p:txBody>
      </p:sp>
      <p:pic>
        <p:nvPicPr>
          <p:cNvPr id="3" name="Picture 2" descr="Working on a thermal plant">
            <a:extLst>
              <a:ext uri="{FF2B5EF4-FFF2-40B4-BE49-F238E27FC236}">
                <a16:creationId xmlns:a16="http://schemas.microsoft.com/office/drawing/2014/main" id="{72B62057-EFF0-4BE1-B284-87EB5A33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34" r="33603" b="15599"/>
          <a:stretch/>
        </p:blipFill>
        <p:spPr>
          <a:xfrm>
            <a:off x="0" y="1951399"/>
            <a:ext cx="9144000" cy="469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429000"/>
            <a:ext cx="429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When does translation quality begin?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9A85-8499-4DE0-5D9C-1AE15F2A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160"/>
            <a:ext cx="7886700" cy="1325563"/>
          </a:xfrm>
        </p:spPr>
        <p:txBody>
          <a:bodyPr/>
          <a:lstStyle/>
          <a:p>
            <a:r>
              <a:rPr lang="en-US" dirty="0"/>
              <a:t>Activities to </a:t>
            </a:r>
            <a:r>
              <a:rPr lang="en-US"/>
              <a:t>Ensure Quality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6E5E6-A716-2BEB-99D7-CF699BD1ECF3}"/>
              </a:ext>
            </a:extLst>
          </p:cNvPr>
          <p:cNvSpPr txBox="1"/>
          <p:nvPr/>
        </p:nvSpPr>
        <p:spPr>
          <a:xfrm>
            <a:off x="396365" y="1709591"/>
            <a:ext cx="8353586" cy="4924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Checking Steps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accent2"/>
                </a:solidFill>
              </a:rPr>
              <a:t>Quality Assessment Guide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Divine Familial Terms </a:t>
            </a:r>
            <a:r>
              <a:rPr lang="en-US" sz="2600" b="1">
                <a:solidFill>
                  <a:schemeClr val="accent2"/>
                </a:solidFill>
              </a:rPr>
              <a:t>Tables (when needed)</a:t>
            </a: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accent2"/>
                </a:solidFill>
              </a:rPr>
              <a:t>Reviewers’ Guide</a:t>
            </a:r>
            <a:endParaRPr lang="en-US" sz="2600" b="1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Spiritual Terms Evaluation</a:t>
            </a:r>
            <a:br>
              <a:rPr lang="en-US" sz="2600" b="1" dirty="0">
                <a:solidFill>
                  <a:schemeClr val="accent2"/>
                </a:solidFill>
              </a:rPr>
            </a:br>
            <a:endParaRPr lang="en-US" sz="2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2"/>
                </a:solidFill>
              </a:rPr>
              <a:t>Proofreading Checklist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0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842338"/>
            <a:ext cx="429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What is the goal?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up of hands holding an open book">
            <a:extLst>
              <a:ext uri="{FF2B5EF4-FFF2-40B4-BE49-F238E27FC236}">
                <a16:creationId xmlns:a16="http://schemas.microsoft.com/office/drawing/2014/main" id="{389F3353-587C-37FF-1E5F-DFAE44B9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7" t="16146" r="41826" b="36979"/>
          <a:stretch>
            <a:fillRect/>
          </a:stretch>
        </p:blipFill>
        <p:spPr>
          <a:xfrm>
            <a:off x="1773134" y="1708311"/>
            <a:ext cx="5604808" cy="3441425"/>
          </a:xfrm>
          <a:prstGeom prst="roundRect">
            <a:avLst>
              <a:gd name="adj" fmla="val 9911"/>
            </a:avLst>
          </a:prstGeom>
          <a:ln w="57150">
            <a:solidFill>
              <a:srgbClr val="83A83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49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CD27-DD95-9C99-0F04-8838A68E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12A554-7CEE-9B20-8FBC-FAC6709FC8E0}"/>
              </a:ext>
            </a:extLst>
          </p:cNvPr>
          <p:cNvSpPr/>
          <p:nvPr/>
        </p:nvSpPr>
        <p:spPr>
          <a:xfrm>
            <a:off x="908334" y="2563237"/>
            <a:ext cx="7238185" cy="960120"/>
          </a:xfrm>
          <a:prstGeom prst="rect">
            <a:avLst/>
          </a:prstGeom>
          <a:solidFill>
            <a:srgbClr val="F3CB4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A59C0-6672-2C41-4AFF-CAB27603F92F}"/>
              </a:ext>
            </a:extLst>
          </p:cNvPr>
          <p:cNvSpPr txBox="1"/>
          <p:nvPr/>
        </p:nvSpPr>
        <p:spPr>
          <a:xfrm>
            <a:off x="108486" y="2892109"/>
            <a:ext cx="8956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Train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A8F30-5F4E-740B-B7EA-7D6A46286FDF}"/>
              </a:ext>
            </a:extLst>
          </p:cNvPr>
          <p:cNvSpPr/>
          <p:nvPr/>
        </p:nvSpPr>
        <p:spPr>
          <a:xfrm>
            <a:off x="1009504" y="2563237"/>
            <a:ext cx="4350845" cy="96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EBE9-10D4-276B-E3FF-51B6FD6B3EB3}"/>
              </a:ext>
            </a:extLst>
          </p:cNvPr>
          <p:cNvSpPr txBox="1"/>
          <p:nvPr/>
        </p:nvSpPr>
        <p:spPr>
          <a:xfrm>
            <a:off x="2068509" y="2803394"/>
            <a:ext cx="24730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The 8 Steps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FF31-2E4D-5031-A917-4A34638B4722}"/>
              </a:ext>
            </a:extLst>
          </p:cNvPr>
          <p:cNvSpPr/>
          <p:nvPr/>
        </p:nvSpPr>
        <p:spPr>
          <a:xfrm>
            <a:off x="5337196" y="2563999"/>
            <a:ext cx="2504969" cy="9601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4E94C-768E-BA81-08D5-BAFEFEC15A8E}"/>
              </a:ext>
            </a:extLst>
          </p:cNvPr>
          <p:cNvSpPr txBox="1"/>
          <p:nvPr/>
        </p:nvSpPr>
        <p:spPr>
          <a:xfrm>
            <a:off x="5337196" y="2798164"/>
            <a:ext cx="2504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Refinement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AF38B-E8AD-5CCC-BD9E-2216E44AF879}"/>
              </a:ext>
            </a:extLst>
          </p:cNvPr>
          <p:cNvSpPr txBox="1"/>
          <p:nvPr/>
        </p:nvSpPr>
        <p:spPr>
          <a:xfrm>
            <a:off x="8116945" y="2910898"/>
            <a:ext cx="8252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/>
              <a:t>Print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364DAD44-2863-DCB9-9C3A-A9A14D1729B5}"/>
              </a:ext>
            </a:extLst>
          </p:cNvPr>
          <p:cNvSpPr/>
          <p:nvPr/>
        </p:nvSpPr>
        <p:spPr>
          <a:xfrm>
            <a:off x="1831043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21ADA6B-088C-97AD-9A0C-3CE2F0DC9EC1}"/>
              </a:ext>
            </a:extLst>
          </p:cNvPr>
          <p:cNvSpPr/>
          <p:nvPr/>
        </p:nvSpPr>
        <p:spPr>
          <a:xfrm>
            <a:off x="7141443" y="1577970"/>
            <a:ext cx="343027" cy="731520"/>
          </a:xfrm>
          <a:prstGeom prst="downArrow">
            <a:avLst/>
          </a:prstGeom>
          <a:solidFill>
            <a:srgbClr val="005595"/>
          </a:solidFill>
          <a:ln w="57150"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F8449-863C-AD40-2FB3-69399181FEEF}"/>
              </a:ext>
            </a:extLst>
          </p:cNvPr>
          <p:cNvSpPr txBox="1"/>
          <p:nvPr/>
        </p:nvSpPr>
        <p:spPr>
          <a:xfrm>
            <a:off x="111930" y="3807969"/>
            <a:ext cx="9031266" cy="27084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1. Checking Steps			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2. Quality Assessment Guide			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  <a:cs typeface="Arial"/>
              </a:rPr>
              <a:t>3. Divine Familial Terms Tables    Translators (in areas with issues)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4.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Reviewers’ Guide					Believers who were not translators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										(led by a translator)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5. Spiritual Terms Evaluation tool		Translators, with </a:t>
            </a:r>
            <a:r>
              <a:rPr lang="en-US" sz="2000" b="1" dirty="0"/>
              <a:t>spiritual leaders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005595"/>
                </a:solidFill>
              </a:rPr>
              <a:t>6. Proofreading Checklist				One or more translators</a:t>
            </a:r>
            <a:endParaRPr lang="en-US" sz="2000" b="1" dirty="0">
              <a:solidFill>
                <a:srgbClr val="005595"/>
              </a:solidFill>
              <a:cs typeface="Arial"/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DADD327-A292-A313-D155-B94717E1FC1A}"/>
              </a:ext>
            </a:extLst>
          </p:cNvPr>
          <p:cNvSpPr/>
          <p:nvPr/>
        </p:nvSpPr>
        <p:spPr>
          <a:xfrm>
            <a:off x="7652053" y="1577970"/>
            <a:ext cx="343027" cy="731520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E055E44-79B9-EFBF-47BA-9302B5DCFBD6}"/>
              </a:ext>
            </a:extLst>
          </p:cNvPr>
          <p:cNvSpPr/>
          <p:nvPr/>
        </p:nvSpPr>
        <p:spPr>
          <a:xfrm>
            <a:off x="3005394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E23375A8-4CDE-198F-EB3C-9C768C57621D}"/>
              </a:ext>
            </a:extLst>
          </p:cNvPr>
          <p:cNvSpPr/>
          <p:nvPr/>
        </p:nvSpPr>
        <p:spPr>
          <a:xfrm>
            <a:off x="5958303" y="1577970"/>
            <a:ext cx="914400" cy="731520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CCE9B785-B30C-A774-05E3-37416B9904A8}"/>
              </a:ext>
            </a:extLst>
          </p:cNvPr>
          <p:cNvSpPr/>
          <p:nvPr/>
        </p:nvSpPr>
        <p:spPr>
          <a:xfrm>
            <a:off x="6321558" y="1457532"/>
            <a:ext cx="187890" cy="776613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93830-5506-6137-241C-FFDC236B262A}"/>
              </a:ext>
            </a:extLst>
          </p:cNvPr>
          <p:cNvSpPr txBox="1"/>
          <p:nvPr/>
        </p:nvSpPr>
        <p:spPr>
          <a:xfrm>
            <a:off x="6252108" y="1683908"/>
            <a:ext cx="34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Down Arrow 13">
            <a:extLst>
              <a:ext uri="{FF2B5EF4-FFF2-40B4-BE49-F238E27FC236}">
                <a16:creationId xmlns:a16="http://schemas.microsoft.com/office/drawing/2014/main" id="{8C9C3E0C-359C-72FA-1D42-31AB0BF55E1D}"/>
              </a:ext>
            </a:extLst>
          </p:cNvPr>
          <p:cNvSpPr/>
          <p:nvPr/>
        </p:nvSpPr>
        <p:spPr>
          <a:xfrm>
            <a:off x="4178726" y="1577970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97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4" grpId="0" animBg="1"/>
      <p:bldP spid="10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2F56-E3FD-7C95-28FB-E233563C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Notched Right 30">
            <a:extLst>
              <a:ext uri="{FF2B5EF4-FFF2-40B4-BE49-F238E27FC236}">
                <a16:creationId xmlns:a16="http://schemas.microsoft.com/office/drawing/2014/main" id="{CB115C94-20A3-7B17-013E-18B78BA15556}"/>
              </a:ext>
            </a:extLst>
          </p:cNvPr>
          <p:cNvSpPr/>
          <p:nvPr/>
        </p:nvSpPr>
        <p:spPr>
          <a:xfrm>
            <a:off x="61534" y="2399247"/>
            <a:ext cx="9071796" cy="2222930"/>
          </a:xfrm>
          <a:prstGeom prst="notchedRightArrow">
            <a:avLst/>
          </a:prstGeom>
          <a:gradFill flip="none" rotWithShape="1">
            <a:gsLst>
              <a:gs pos="10000">
                <a:srgbClr val="FFE5D3"/>
              </a:gs>
              <a:gs pos="0">
                <a:schemeClr val="accent3">
                  <a:tint val="40000"/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13000">
                <a:srgbClr val="83A83F"/>
              </a:gs>
              <a:gs pos="46000">
                <a:schemeClr val="accent1">
                  <a:lumMod val="20000"/>
                  <a:lumOff val="80000"/>
                </a:schemeClr>
              </a:gs>
              <a:gs pos="79000">
                <a:srgbClr val="A8D1E7"/>
              </a:gs>
              <a:gs pos="41000">
                <a:srgbClr val="B4B878"/>
              </a:gs>
              <a:gs pos="52000">
                <a:srgbClr val="00B6FC"/>
              </a:gs>
              <a:gs pos="87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3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24D1345-B7EF-D17E-F91C-3F3C72094509}"/>
              </a:ext>
            </a:extLst>
          </p:cNvPr>
          <p:cNvSpPr/>
          <p:nvPr/>
        </p:nvSpPr>
        <p:spPr>
          <a:xfrm>
            <a:off x="5139377" y="3508416"/>
            <a:ext cx="34551" cy="201168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EDC02D-2099-C217-548F-3E0087B89E47}"/>
              </a:ext>
            </a:extLst>
          </p:cNvPr>
          <p:cNvSpPr/>
          <p:nvPr/>
        </p:nvSpPr>
        <p:spPr>
          <a:xfrm>
            <a:off x="6785492" y="3509853"/>
            <a:ext cx="34551" cy="201168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2AEFD1-80D0-C86C-068A-A3E696EF8626}"/>
              </a:ext>
            </a:extLst>
          </p:cNvPr>
          <p:cNvSpPr/>
          <p:nvPr/>
        </p:nvSpPr>
        <p:spPr>
          <a:xfrm>
            <a:off x="7639739" y="1233626"/>
            <a:ext cx="34551" cy="219456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DEF391D-B928-B8C4-0E78-8B9E39B94924}"/>
              </a:ext>
            </a:extLst>
          </p:cNvPr>
          <p:cNvSpPr/>
          <p:nvPr/>
        </p:nvSpPr>
        <p:spPr>
          <a:xfrm>
            <a:off x="6000183" y="1233626"/>
            <a:ext cx="34551" cy="219456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CDF358E-992B-2314-A74D-DC6BF8186A73}"/>
              </a:ext>
            </a:extLst>
          </p:cNvPr>
          <p:cNvSpPr/>
          <p:nvPr/>
        </p:nvSpPr>
        <p:spPr>
          <a:xfrm>
            <a:off x="4361381" y="1222893"/>
            <a:ext cx="34551" cy="219456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1B582E7-E009-70FE-79FA-2ACC07E14187}"/>
              </a:ext>
            </a:extLst>
          </p:cNvPr>
          <p:cNvSpPr/>
          <p:nvPr/>
        </p:nvSpPr>
        <p:spPr>
          <a:xfrm>
            <a:off x="3504191" y="3508416"/>
            <a:ext cx="34551" cy="201168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FBCF2E2-B522-A58D-BC54-027B9E44C1BF}"/>
              </a:ext>
            </a:extLst>
          </p:cNvPr>
          <p:cNvSpPr/>
          <p:nvPr/>
        </p:nvSpPr>
        <p:spPr>
          <a:xfrm>
            <a:off x="1869005" y="3508416"/>
            <a:ext cx="34551" cy="201168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5ADC3-F501-8FC4-EC0B-B0D65EE4E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27" y="386512"/>
            <a:ext cx="8253033" cy="832532"/>
          </a:xfrm>
        </p:spPr>
        <p:txBody>
          <a:bodyPr/>
          <a:lstStyle/>
          <a:p>
            <a:r>
              <a:rPr lang="en-US" dirty="0"/>
              <a:t>Refinement Overview from Start to Print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E02C0-0D94-FC63-6BF7-41490DBCB924}"/>
              </a:ext>
            </a:extLst>
          </p:cNvPr>
          <p:cNvSpPr txBox="1"/>
          <p:nvPr/>
        </p:nvSpPr>
        <p:spPr>
          <a:xfrm>
            <a:off x="635165" y="5887679"/>
            <a:ext cx="8292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All changes must be typed and uploaded </a:t>
            </a:r>
            <a:r>
              <a:rPr lang="en-US" sz="1600" b="1" u="sng" dirty="0"/>
              <a:t>before</a:t>
            </a:r>
            <a:r>
              <a:rPr lang="en-US" sz="1600" dirty="0"/>
              <a:t> you move to the next step. Completed checklists and documents should be provided to your Regional Director after each step.</a:t>
            </a: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50DD09B-6D27-2735-2181-C1CF81C3ED7D}"/>
              </a:ext>
            </a:extLst>
          </p:cNvPr>
          <p:cNvSpPr/>
          <p:nvPr/>
        </p:nvSpPr>
        <p:spPr>
          <a:xfrm>
            <a:off x="216629" y="5887679"/>
            <a:ext cx="477261" cy="449766"/>
          </a:xfrm>
          <a:prstGeom prst="star5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59E0BF-1B9F-35EA-B2B8-4AC8D2FC8DC4}"/>
              </a:ext>
            </a:extLst>
          </p:cNvPr>
          <p:cNvSpPr/>
          <p:nvPr/>
        </p:nvSpPr>
        <p:spPr>
          <a:xfrm>
            <a:off x="2733464" y="1233626"/>
            <a:ext cx="34551" cy="219456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9AAE9B-57F2-3028-FBFC-1D30D04FB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3429" y="2628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1C8775-B092-A5C2-3D8B-8A0F8AD6CF18}"/>
              </a:ext>
            </a:extLst>
          </p:cNvPr>
          <p:cNvSpPr/>
          <p:nvPr/>
        </p:nvSpPr>
        <p:spPr>
          <a:xfrm>
            <a:off x="222980" y="3508416"/>
            <a:ext cx="34551" cy="201168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1817F5-A653-4F7A-7F9D-B32F8424CEAA}"/>
              </a:ext>
            </a:extLst>
          </p:cNvPr>
          <p:cNvSpPr/>
          <p:nvPr/>
        </p:nvSpPr>
        <p:spPr>
          <a:xfrm>
            <a:off x="1119796" y="1233626"/>
            <a:ext cx="34551" cy="2194560"/>
          </a:xfrm>
          <a:prstGeom prst="rect">
            <a:avLst/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2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9E7A8C6-C6E3-8048-2CCB-31AB2F6046FA}"/>
              </a:ext>
            </a:extLst>
          </p:cNvPr>
          <p:cNvSpPr/>
          <p:nvPr/>
        </p:nvSpPr>
        <p:spPr>
          <a:xfrm>
            <a:off x="303793" y="4842412"/>
            <a:ext cx="1175558" cy="720807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Project 100% Uploaded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C91487-6DB6-CD1F-6796-9B77DFEE1349}"/>
              </a:ext>
            </a:extLst>
          </p:cNvPr>
          <p:cNvSpPr/>
          <p:nvPr/>
        </p:nvSpPr>
        <p:spPr>
          <a:xfrm>
            <a:off x="162544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6C744BE-67BA-FD2D-D387-5C2F36E088C6}"/>
              </a:ext>
            </a:extLst>
          </p:cNvPr>
          <p:cNvSpPr/>
          <p:nvPr/>
        </p:nvSpPr>
        <p:spPr>
          <a:xfrm>
            <a:off x="1169135" y="1235592"/>
            <a:ext cx="1406982" cy="1607716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Refinement Event #1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/>
              <a:t>Quality Assessment Guide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/>
              <a:t>Reviewers’ Guide training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85BBB8D-B659-F8BF-2572-B1EEFC27D7BE}"/>
              </a:ext>
            </a:extLst>
          </p:cNvPr>
          <p:cNvSpPr/>
          <p:nvPr/>
        </p:nvSpPr>
        <p:spPr>
          <a:xfrm>
            <a:off x="1920540" y="4604852"/>
            <a:ext cx="1399179" cy="958367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Corrections from QAG 100% Uploaded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B75E0A-25AE-10BD-D7F3-FBE7CA424F8E}"/>
              </a:ext>
            </a:extLst>
          </p:cNvPr>
          <p:cNvSpPr/>
          <p:nvPr/>
        </p:nvSpPr>
        <p:spPr>
          <a:xfrm>
            <a:off x="1801347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2158603"/>
              <a:satOff val="898"/>
              <a:lumOff val="-3137"/>
              <a:alphaOff val="0"/>
            </a:schemeClr>
          </a:fillRef>
          <a:effectRef idx="2">
            <a:schemeClr val="accent3">
              <a:hueOff val="2158603"/>
              <a:satOff val="898"/>
              <a:lumOff val="-3137"/>
              <a:alphaOff val="0"/>
            </a:schemeClr>
          </a:effectRef>
          <a:fontRef idx="minor">
            <a:schemeClr val="lt1"/>
          </a:fontRef>
        </p:style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7E7EC81-4952-1258-ACF0-C3EF688366BD}"/>
              </a:ext>
            </a:extLst>
          </p:cNvPr>
          <p:cNvSpPr/>
          <p:nvPr/>
        </p:nvSpPr>
        <p:spPr>
          <a:xfrm>
            <a:off x="2803349" y="1237880"/>
            <a:ext cx="1273604" cy="1561876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(No Event) Reviewers’ Guide: New or Old Testament Survey in Community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4F200F-2D54-50EF-65A1-F1E60689DE1E}"/>
              </a:ext>
            </a:extLst>
          </p:cNvPr>
          <p:cNvSpPr/>
          <p:nvPr/>
        </p:nvSpPr>
        <p:spPr>
          <a:xfrm>
            <a:off x="2620749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3237904"/>
              <a:satOff val="1347"/>
              <a:lumOff val="-4706"/>
              <a:alphaOff val="0"/>
            </a:schemeClr>
          </a:fillRef>
          <a:effectRef idx="2">
            <a:schemeClr val="accent3">
              <a:hueOff val="3237904"/>
              <a:satOff val="1347"/>
              <a:lumOff val="-4706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C80F5F4-651A-663C-6685-41334516967D}"/>
              </a:ext>
            </a:extLst>
          </p:cNvPr>
          <p:cNvSpPr/>
          <p:nvPr/>
        </p:nvSpPr>
        <p:spPr>
          <a:xfrm>
            <a:off x="3565874" y="4670367"/>
            <a:ext cx="1273602" cy="892852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Corrections from RG: Survey 100% Uploaded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EF6817-CC62-D20A-961E-19DC92498F7B}"/>
              </a:ext>
            </a:extLst>
          </p:cNvPr>
          <p:cNvSpPr/>
          <p:nvPr/>
        </p:nvSpPr>
        <p:spPr>
          <a:xfrm>
            <a:off x="3440151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4317205"/>
              <a:satOff val="1796"/>
              <a:lumOff val="-6275"/>
              <a:alphaOff val="0"/>
            </a:schemeClr>
          </a:fillRef>
          <a:effectRef idx="2">
            <a:schemeClr val="accent3">
              <a:hueOff val="4317205"/>
              <a:satOff val="1796"/>
              <a:lumOff val="-6275"/>
              <a:alphaOff val="0"/>
            </a:schemeClr>
          </a:effectRef>
          <a:fontRef idx="minor">
            <a:schemeClr val="lt1"/>
          </a:fontRef>
        </p:style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0CAE950-354F-D4E6-11DD-1EC810346410}"/>
              </a:ext>
            </a:extLst>
          </p:cNvPr>
          <p:cNvSpPr/>
          <p:nvPr/>
        </p:nvSpPr>
        <p:spPr>
          <a:xfrm>
            <a:off x="4430305" y="1230924"/>
            <a:ext cx="1406982" cy="1561876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Refinement Event #2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/>
              <a:t>Spiritual Terms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/>
              <a:t>Proofreading training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4E9833-DFB6-C030-5A69-CD29ED0C5FAE}"/>
              </a:ext>
            </a:extLst>
          </p:cNvPr>
          <p:cNvSpPr/>
          <p:nvPr/>
        </p:nvSpPr>
        <p:spPr>
          <a:xfrm>
            <a:off x="4259553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5396507"/>
              <a:satOff val="2244"/>
              <a:lumOff val="-7843"/>
              <a:alphaOff val="0"/>
            </a:schemeClr>
          </a:fillRef>
          <a:effectRef idx="2">
            <a:schemeClr val="accent3">
              <a:hueOff val="5396507"/>
              <a:satOff val="2244"/>
              <a:lumOff val="-7843"/>
              <a:alphaOff val="0"/>
            </a:schemeClr>
          </a:effectRef>
          <a:fontRef idx="minor">
            <a:schemeClr val="lt1"/>
          </a:fontRef>
        </p:style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B3CEA20-A364-3500-7E0D-FE6DB5C825C7}"/>
              </a:ext>
            </a:extLst>
          </p:cNvPr>
          <p:cNvSpPr/>
          <p:nvPr/>
        </p:nvSpPr>
        <p:spPr>
          <a:xfrm>
            <a:off x="5222096" y="4631153"/>
            <a:ext cx="1446409" cy="932066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Corrections from Spiritual Terms 100% Uploaded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AAA5981-FC28-D017-8C65-FB48FE404356}"/>
              </a:ext>
            </a:extLst>
          </p:cNvPr>
          <p:cNvSpPr/>
          <p:nvPr/>
        </p:nvSpPr>
        <p:spPr>
          <a:xfrm>
            <a:off x="5078955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6475808"/>
              <a:satOff val="2693"/>
              <a:lumOff val="-9412"/>
              <a:alphaOff val="0"/>
            </a:schemeClr>
          </a:fillRef>
          <a:effectRef idx="2">
            <a:schemeClr val="accent3">
              <a:hueOff val="6475808"/>
              <a:satOff val="2693"/>
              <a:lumOff val="-9412"/>
              <a:alphaOff val="0"/>
            </a:schemeClr>
          </a:effectRef>
          <a:fontRef idx="minor">
            <a:schemeClr val="lt1"/>
          </a:fontRef>
        </p:style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334EFBD-BC56-D31A-8DAA-1A16F668AFBE}"/>
              </a:ext>
            </a:extLst>
          </p:cNvPr>
          <p:cNvSpPr/>
          <p:nvPr/>
        </p:nvSpPr>
        <p:spPr>
          <a:xfrm>
            <a:off x="6051874" y="1233626"/>
            <a:ext cx="1407920" cy="584719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(No Event) Proofreading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C8CAE32-13DB-0B9D-CB82-CA2F3E6D9F3F}"/>
              </a:ext>
            </a:extLst>
          </p:cNvPr>
          <p:cNvSpPr/>
          <p:nvPr/>
        </p:nvSpPr>
        <p:spPr>
          <a:xfrm>
            <a:off x="5898356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7555110"/>
              <a:satOff val="3142"/>
              <a:lumOff val="-10981"/>
              <a:alphaOff val="0"/>
            </a:schemeClr>
          </a:fillRef>
          <a:effectRef idx="2">
            <a:schemeClr val="accent3">
              <a:hueOff val="7555110"/>
              <a:satOff val="3142"/>
              <a:lumOff val="-10981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6A908DF-D200-5D65-1654-E32B62DB9917}"/>
              </a:ext>
            </a:extLst>
          </p:cNvPr>
          <p:cNvSpPr/>
          <p:nvPr/>
        </p:nvSpPr>
        <p:spPr>
          <a:xfrm>
            <a:off x="6870649" y="4452248"/>
            <a:ext cx="1446409" cy="1110971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Corrections from Proofreading 100% Uploaded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58C33D6-2614-AECC-BCEE-5D626472528D}"/>
              </a:ext>
            </a:extLst>
          </p:cNvPr>
          <p:cNvSpPr/>
          <p:nvPr/>
        </p:nvSpPr>
        <p:spPr>
          <a:xfrm>
            <a:off x="6717757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634411"/>
              <a:satOff val="3591"/>
              <a:lumOff val="-12549"/>
              <a:alphaOff val="0"/>
            </a:schemeClr>
          </a:fillRef>
          <a:effectRef idx="2">
            <a:schemeClr val="accent3">
              <a:hueOff val="8634411"/>
              <a:satOff val="3591"/>
              <a:lumOff val="-12549"/>
              <a:alphaOff val="0"/>
            </a:schemeClr>
          </a:effectRef>
          <a:fontRef idx="minor">
            <a:schemeClr val="lt1"/>
          </a:fontRef>
        </p:style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796B8BA-6625-2A60-A9B1-A1E20D573411}"/>
              </a:ext>
            </a:extLst>
          </p:cNvPr>
          <p:cNvSpPr/>
          <p:nvPr/>
        </p:nvSpPr>
        <p:spPr>
          <a:xfrm>
            <a:off x="7691430" y="1219044"/>
            <a:ext cx="1452570" cy="749455"/>
          </a:xfrm>
          <a:custGeom>
            <a:avLst/>
            <a:gdLst>
              <a:gd name="csX0" fmla="*/ 0 w 737582"/>
              <a:gd name="csY0" fmla="*/ 0 h 2222930"/>
              <a:gd name="csX1" fmla="*/ 737582 w 737582"/>
              <a:gd name="csY1" fmla="*/ 0 h 2222930"/>
              <a:gd name="csX2" fmla="*/ 737582 w 737582"/>
              <a:gd name="csY2" fmla="*/ 2222930 h 2222930"/>
              <a:gd name="csX3" fmla="*/ 0 w 737582"/>
              <a:gd name="csY3" fmla="*/ 2222930 h 2222930"/>
              <a:gd name="csX4" fmla="*/ 0 w 737582"/>
              <a:gd name="csY4" fmla="*/ 0 h 222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582" h="2222930">
                <a:moveTo>
                  <a:pt x="0" y="0"/>
                </a:moveTo>
                <a:lnTo>
                  <a:pt x="737582" y="0"/>
                </a:lnTo>
                <a:lnTo>
                  <a:pt x="737582" y="2222930"/>
                </a:lnTo>
                <a:lnTo>
                  <a:pt x="0" y="22229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Publication Process and Printing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48C34CC-5C6C-37C8-9911-3FE10C6C1880}"/>
              </a:ext>
            </a:extLst>
          </p:cNvPr>
          <p:cNvSpPr/>
          <p:nvPr/>
        </p:nvSpPr>
        <p:spPr>
          <a:xfrm>
            <a:off x="7537159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9713712"/>
              <a:satOff val="4040"/>
              <a:lumOff val="-14118"/>
              <a:alphaOff val="0"/>
            </a:schemeClr>
          </a:fillRef>
          <a:effectRef idx="2">
            <a:schemeClr val="accent3">
              <a:hueOff val="9713712"/>
              <a:satOff val="4040"/>
              <a:lumOff val="-14118"/>
              <a:alphaOff val="0"/>
            </a:schemeClr>
          </a:effectRef>
          <a:fontRef idx="minor">
            <a:schemeClr val="lt1"/>
          </a:fontRef>
        </p:style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B3D725-240F-BE59-E5E4-BDA9148AA4D7}"/>
              </a:ext>
            </a:extLst>
          </p:cNvPr>
          <p:cNvSpPr/>
          <p:nvPr/>
        </p:nvSpPr>
        <p:spPr>
          <a:xfrm>
            <a:off x="981946" y="3232846"/>
            <a:ext cx="587980" cy="555732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1079301"/>
              <a:satOff val="449"/>
              <a:lumOff val="-1569"/>
              <a:alphaOff val="0"/>
            </a:schemeClr>
          </a:fillRef>
          <a:effectRef idx="2">
            <a:schemeClr val="accent3">
              <a:hueOff val="1079301"/>
              <a:satOff val="449"/>
              <a:lumOff val="-1569"/>
              <a:alphaOff val="0"/>
            </a:schemeClr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EC53EB-ADDA-D3DE-E659-7E23F6545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6544500">
            <a:off x="7831344" y="1995747"/>
            <a:ext cx="1163417" cy="160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7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9D32C-8596-5E24-E259-44860B05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66330" y="6596196"/>
            <a:ext cx="1978120" cy="294900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Revised 7//2026</a:t>
            </a:r>
          </a:p>
        </p:txBody>
      </p:sp>
    </p:spTree>
    <p:extLst>
      <p:ext uri="{BB962C8B-B14F-4D97-AF65-F5344CB8AC3E}">
        <p14:creationId xmlns:p14="http://schemas.microsoft.com/office/powerpoint/2010/main" val="30864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a5380cb2be4a51461126b02f947e923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9bf58d68fa2085cb5739c341b0c4cac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CA5D55-ED13-43AC-9719-B8C54F3EA0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1a61c928-f5f6-4989-bd5d-cb8872a1b06d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ee82e44-1fa4-4144-8309-00fed2bf4198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263</Words>
  <Application>Microsoft Office PowerPoint</Application>
  <PresentationFormat>On-screen Show (4:3)</PresentationFormat>
  <Paragraphs>53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Activities to Ensure Quality</vt:lpstr>
      <vt:lpstr>PowerPoint Presentation</vt:lpstr>
      <vt:lpstr>PowerPoint Presentation</vt:lpstr>
      <vt:lpstr>PowerPoint Presentation</vt:lpstr>
      <vt:lpstr>Refinement Overview from Start to Print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Debbie Shaw</cp:lastModifiedBy>
  <cp:revision>96</cp:revision>
  <dcterms:created xsi:type="dcterms:W3CDTF">2019-03-18T18:21:25Z</dcterms:created>
  <dcterms:modified xsi:type="dcterms:W3CDTF">2026-07-15T18:51:27Z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