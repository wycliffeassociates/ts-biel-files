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82" r:id="rId5"/>
    <p:sldId id="320" r:id="rId6"/>
    <p:sldId id="294" r:id="rId7"/>
    <p:sldId id="331" r:id="rId8"/>
    <p:sldId id="287" r:id="rId9"/>
    <p:sldId id="258" r:id="rId10"/>
    <p:sldId id="340" r:id="rId11"/>
    <p:sldId id="338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5595"/>
    <a:srgbClr val="E2BEB5"/>
    <a:srgbClr val="F7D1C7"/>
    <a:srgbClr val="B95659"/>
    <a:srgbClr val="5935A0"/>
    <a:srgbClr val="005595"/>
    <a:srgbClr val="0093CB"/>
    <a:srgbClr val="716557"/>
    <a:srgbClr val="83A83F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43"/>
  </p:normalViewPr>
  <p:slideViewPr>
    <p:cSldViewPr snapToGrid="0">
      <p:cViewPr varScale="1">
        <p:scale>
          <a:sx n="110" d="100"/>
          <a:sy n="110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7/25/25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0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22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8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95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4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0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0" y="528747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s-ES_tradnl" sz="3600" b="1" noProof="0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Taller de Refinamiento</a:t>
            </a:r>
          </a:p>
        </p:txBody>
      </p:sp>
      <p:pic>
        <p:nvPicPr>
          <p:cNvPr id="3" name="Picture 2" descr="Working on a thermal plant">
            <a:extLst>
              <a:ext uri="{FF2B5EF4-FFF2-40B4-BE49-F238E27FC236}">
                <a16:creationId xmlns:a16="http://schemas.microsoft.com/office/drawing/2014/main" id="{72B62057-EFF0-4BE1-B284-87EB5A339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34" r="33603" b="15599"/>
          <a:stretch/>
        </p:blipFill>
        <p:spPr>
          <a:xfrm>
            <a:off x="0" y="1951399"/>
            <a:ext cx="9144000" cy="469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3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CB29-A967-845B-D721-A6CC458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F9E16-E044-1C6D-9132-3452EED273D8}"/>
              </a:ext>
            </a:extLst>
          </p:cNvPr>
          <p:cNvSpPr txBox="1"/>
          <p:nvPr/>
        </p:nvSpPr>
        <p:spPr>
          <a:xfrm>
            <a:off x="3001524" y="-51035"/>
            <a:ext cx="3266272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50000" noProof="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B0E0-9D11-E203-3D4F-02FB8450E5B1}"/>
              </a:ext>
            </a:extLst>
          </p:cNvPr>
          <p:cNvSpPr txBox="1"/>
          <p:nvPr/>
        </p:nvSpPr>
        <p:spPr>
          <a:xfrm>
            <a:off x="2485960" y="3429000"/>
            <a:ext cx="429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800" b="1" noProof="0" dirty="0"/>
              <a:t>¿Cuándo se comienza a planificar para la calidad de la traducción?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1298-0FBD-D996-71B8-F2F844FB2757}"/>
              </a:ext>
            </a:extLst>
          </p:cNvPr>
          <p:cNvSpPr txBox="1"/>
          <p:nvPr/>
        </p:nvSpPr>
        <p:spPr>
          <a:xfrm>
            <a:off x="7182196" y="5469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8248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9A85-8499-4DE0-5D9C-1AE15F2A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59160"/>
            <a:ext cx="7886700" cy="1325563"/>
          </a:xfrm>
        </p:spPr>
        <p:txBody>
          <a:bodyPr/>
          <a:lstStyle/>
          <a:p>
            <a:r>
              <a:rPr lang="es-ES_tradnl" noProof="0" dirty="0"/>
              <a:t>Actividades para Confirmar Calidad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A3912D5-7016-8975-B81B-A5E90825A640}"/>
              </a:ext>
            </a:extLst>
          </p:cNvPr>
          <p:cNvSpPr/>
          <p:nvPr/>
        </p:nvSpPr>
        <p:spPr>
          <a:xfrm>
            <a:off x="1199507" y="2520778"/>
            <a:ext cx="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s-ES_tradnl" sz="2000" noProof="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6E5E6-A716-2BEB-99D7-CF699BD1ECF3}"/>
              </a:ext>
            </a:extLst>
          </p:cNvPr>
          <p:cNvSpPr txBox="1"/>
          <p:nvPr/>
        </p:nvSpPr>
        <p:spPr>
          <a:xfrm>
            <a:off x="597648" y="1910874"/>
            <a:ext cx="835358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600" b="1" noProof="0" dirty="0">
                <a:solidFill>
                  <a:schemeClr val="accent2"/>
                </a:solidFill>
              </a:rPr>
              <a:t>Pasos de revisión de AMATB (Paso 7: Revisión de palabras claves)</a:t>
            </a:r>
            <a:br>
              <a:rPr lang="es-ES_tradnl" sz="2600" b="1" noProof="0" dirty="0">
                <a:solidFill>
                  <a:schemeClr val="accent2"/>
                </a:solidFill>
              </a:rPr>
            </a:br>
            <a:endParaRPr lang="es-ES_tradnl" sz="2600" b="1" noProof="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600" b="1" noProof="0" dirty="0">
                <a:solidFill>
                  <a:schemeClr val="accent2"/>
                </a:solidFill>
              </a:rPr>
              <a:t>Guía de Evaluación de Calidad</a:t>
            </a:r>
            <a:br>
              <a:rPr lang="es-ES_tradnl" sz="2600" b="1" noProof="0" dirty="0">
                <a:solidFill>
                  <a:schemeClr val="accent2"/>
                </a:solidFill>
              </a:rPr>
            </a:br>
            <a:endParaRPr lang="es-ES_tradnl" sz="2600" b="1" noProof="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600" b="1" noProof="0" dirty="0">
                <a:solidFill>
                  <a:schemeClr val="accent2"/>
                </a:solidFill>
              </a:rPr>
              <a:t>Guía de los Revisores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600" b="1" noProof="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600" b="1" noProof="0" dirty="0">
                <a:solidFill>
                  <a:schemeClr val="accent2"/>
                </a:solidFill>
              </a:rPr>
              <a:t>Evaluación de Términos Espirituales</a:t>
            </a:r>
            <a:br>
              <a:rPr lang="es-ES_tradnl" sz="2600" b="1" noProof="0" dirty="0">
                <a:solidFill>
                  <a:schemeClr val="accent2"/>
                </a:solidFill>
              </a:rPr>
            </a:br>
            <a:endParaRPr lang="es-ES_tradnl" sz="2600" b="1" noProof="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600" b="1" noProof="0" dirty="0">
                <a:solidFill>
                  <a:schemeClr val="accent2"/>
                </a:solidFill>
              </a:rPr>
              <a:t>Corrección de Pruebas</a:t>
            </a:r>
            <a:endParaRPr lang="es-ES_tradnl" sz="2800" b="1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50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CB29-A967-845B-D721-A6CC458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F9E16-E044-1C6D-9132-3452EED273D8}"/>
              </a:ext>
            </a:extLst>
          </p:cNvPr>
          <p:cNvSpPr txBox="1"/>
          <p:nvPr/>
        </p:nvSpPr>
        <p:spPr>
          <a:xfrm>
            <a:off x="3001524" y="-51035"/>
            <a:ext cx="3266272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50000" noProof="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B0E0-9D11-E203-3D4F-02FB8450E5B1}"/>
              </a:ext>
            </a:extLst>
          </p:cNvPr>
          <p:cNvSpPr txBox="1"/>
          <p:nvPr/>
        </p:nvSpPr>
        <p:spPr>
          <a:xfrm>
            <a:off x="2485960" y="3842338"/>
            <a:ext cx="429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800" b="1" noProof="0" dirty="0"/>
              <a:t>¿Cuál es el objetivo?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1298-0FBD-D996-71B8-F2F844FB2757}"/>
              </a:ext>
            </a:extLst>
          </p:cNvPr>
          <p:cNvSpPr txBox="1"/>
          <p:nvPr/>
        </p:nvSpPr>
        <p:spPr>
          <a:xfrm>
            <a:off x="7182196" y="5469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73694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up of hands holding an open book">
            <a:extLst>
              <a:ext uri="{FF2B5EF4-FFF2-40B4-BE49-F238E27FC236}">
                <a16:creationId xmlns:a16="http://schemas.microsoft.com/office/drawing/2014/main" id="{389F3353-587C-37FF-1E5F-DFAE44B9D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6" b="12146"/>
          <a:stretch/>
        </p:blipFill>
        <p:spPr>
          <a:xfrm>
            <a:off x="1706227" y="2256587"/>
            <a:ext cx="5731545" cy="2892829"/>
          </a:xfrm>
          <a:prstGeom prst="roundRect">
            <a:avLst>
              <a:gd name="adj" fmla="val 9911"/>
            </a:avLst>
          </a:prstGeom>
          <a:ln w="57150">
            <a:solidFill>
              <a:srgbClr val="83A83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449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CD27-DD95-9C99-0F04-8838A68E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12A554-7CEE-9B20-8FBC-FAC6709FC8E0}"/>
              </a:ext>
            </a:extLst>
          </p:cNvPr>
          <p:cNvSpPr/>
          <p:nvPr/>
        </p:nvSpPr>
        <p:spPr>
          <a:xfrm>
            <a:off x="2036095" y="2567881"/>
            <a:ext cx="5572676" cy="960120"/>
          </a:xfrm>
          <a:prstGeom prst="rect">
            <a:avLst/>
          </a:prstGeom>
          <a:solidFill>
            <a:srgbClr val="F3CB4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A59C0-6672-2C41-4AFF-CAB27603F92F}"/>
              </a:ext>
            </a:extLst>
          </p:cNvPr>
          <p:cNvSpPr txBox="1"/>
          <p:nvPr/>
        </p:nvSpPr>
        <p:spPr>
          <a:xfrm>
            <a:off x="-28280" y="2910898"/>
            <a:ext cx="20566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100" b="1" noProof="0" dirty="0"/>
              <a:t>Entrenamiento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A8F30-5F4E-740B-B7EA-7D6A46286FDF}"/>
              </a:ext>
            </a:extLst>
          </p:cNvPr>
          <p:cNvSpPr/>
          <p:nvPr/>
        </p:nvSpPr>
        <p:spPr>
          <a:xfrm>
            <a:off x="2152443" y="2571485"/>
            <a:ext cx="3428807" cy="96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 noProof="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AEBE9-10D4-276B-E3FF-51B6FD6B3EB3}"/>
              </a:ext>
            </a:extLst>
          </p:cNvPr>
          <p:cNvSpPr txBox="1"/>
          <p:nvPr/>
        </p:nvSpPr>
        <p:spPr>
          <a:xfrm>
            <a:off x="2342983" y="2837306"/>
            <a:ext cx="303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noProof="0" dirty="0">
                <a:solidFill>
                  <a:schemeClr val="bg1"/>
                </a:solidFill>
              </a:rPr>
              <a:t>Pasos de AMATB</a:t>
            </a:r>
            <a:endParaRPr lang="es-ES_tradnl" sz="2400" noProof="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7FF31-2E4D-5031-A917-4A34638B4722}"/>
              </a:ext>
            </a:extLst>
          </p:cNvPr>
          <p:cNvSpPr/>
          <p:nvPr/>
        </p:nvSpPr>
        <p:spPr>
          <a:xfrm>
            <a:off x="5363996" y="2564306"/>
            <a:ext cx="2125601" cy="9601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4E94C-768E-BA81-08D5-BAFEFEC15A8E}"/>
              </a:ext>
            </a:extLst>
          </p:cNvPr>
          <p:cNvSpPr txBox="1"/>
          <p:nvPr/>
        </p:nvSpPr>
        <p:spPr>
          <a:xfrm>
            <a:off x="5379415" y="2836399"/>
            <a:ext cx="2125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noProof="0" dirty="0">
                <a:solidFill>
                  <a:schemeClr val="bg1"/>
                </a:solidFill>
              </a:rPr>
              <a:t>Refinamiento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AF38B-E8AD-5CCC-BD9E-2216E44AF879}"/>
              </a:ext>
            </a:extLst>
          </p:cNvPr>
          <p:cNvSpPr txBox="1"/>
          <p:nvPr/>
        </p:nvSpPr>
        <p:spPr>
          <a:xfrm>
            <a:off x="7548878" y="2910898"/>
            <a:ext cx="148663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100" b="1" noProof="0" dirty="0"/>
              <a:t>Impresión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364DAD44-2863-DCB9-9C3A-A9A14D1729B5}"/>
              </a:ext>
            </a:extLst>
          </p:cNvPr>
          <p:cNvSpPr/>
          <p:nvPr/>
        </p:nvSpPr>
        <p:spPr>
          <a:xfrm>
            <a:off x="2258881" y="1569976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s-ES_tradn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21ADA6B-088C-97AD-9A0C-3CE2F0DC9EC1}"/>
              </a:ext>
            </a:extLst>
          </p:cNvPr>
          <p:cNvSpPr/>
          <p:nvPr/>
        </p:nvSpPr>
        <p:spPr>
          <a:xfrm>
            <a:off x="6764700" y="1575017"/>
            <a:ext cx="343027" cy="731520"/>
          </a:xfrm>
          <a:prstGeom prst="downArrow">
            <a:avLst/>
          </a:prstGeom>
          <a:solidFill>
            <a:srgbClr val="005595"/>
          </a:solidFill>
          <a:ln w="57150">
            <a:solidFill>
              <a:schemeClr val="tx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es-ES_tradn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0F8449-863C-AD40-2FB3-69399181FEEF}"/>
              </a:ext>
            </a:extLst>
          </p:cNvPr>
          <p:cNvSpPr txBox="1"/>
          <p:nvPr/>
        </p:nvSpPr>
        <p:spPr>
          <a:xfrm>
            <a:off x="123027" y="4240755"/>
            <a:ext cx="90312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_tradnl" sz="2000" b="1" noProof="0" dirty="0">
                <a:solidFill>
                  <a:srgbClr val="005595"/>
                </a:solidFill>
              </a:rPr>
              <a:t>1. Revisión de Palabras Claves		Traductores</a:t>
            </a:r>
          </a:p>
          <a:p>
            <a:pPr>
              <a:spcBef>
                <a:spcPts val="600"/>
              </a:spcBef>
            </a:pPr>
            <a:r>
              <a:rPr lang="es-ES_tradnl" sz="2000" b="1" noProof="0" dirty="0">
                <a:solidFill>
                  <a:srgbClr val="005595"/>
                </a:solidFill>
              </a:rPr>
              <a:t>2. Guía de Evaluación de Calidad		Traductores</a:t>
            </a:r>
          </a:p>
          <a:p>
            <a:pPr>
              <a:spcBef>
                <a:spcPts val="600"/>
              </a:spcBef>
            </a:pPr>
            <a:r>
              <a:rPr lang="es-ES_tradnl" sz="2000" b="1" noProof="0" dirty="0">
                <a:solidFill>
                  <a:srgbClr val="005595"/>
                </a:solidFill>
              </a:rPr>
              <a:t>3. </a:t>
            </a:r>
            <a:r>
              <a:rPr lang="es-ES_tradnl" sz="2000" b="1" noProof="0" dirty="0">
                <a:solidFill>
                  <a:schemeClr val="accent6">
                    <a:lumMod val="50000"/>
                  </a:schemeClr>
                </a:solidFill>
              </a:rPr>
              <a:t>Guía de los Revisores				</a:t>
            </a:r>
            <a:r>
              <a:rPr lang="es-ES_tradnl" sz="1900" b="1" noProof="0" dirty="0">
                <a:solidFill>
                  <a:schemeClr val="accent6">
                    <a:lumMod val="50000"/>
                  </a:schemeClr>
                </a:solidFill>
              </a:rPr>
              <a:t>Creyentes que no fueron traductores</a:t>
            </a:r>
            <a:br>
              <a:rPr lang="es-ES_tradnl" sz="2000" b="1" noProof="0" dirty="0">
                <a:solidFill>
                  <a:srgbClr val="005595"/>
                </a:solidFill>
              </a:rPr>
            </a:br>
            <a:r>
              <a:rPr lang="es-ES_tradnl" sz="2000" b="1" noProof="0" dirty="0">
                <a:solidFill>
                  <a:srgbClr val="005595"/>
                </a:solidFill>
              </a:rPr>
              <a:t>										(led </a:t>
            </a:r>
            <a:r>
              <a:rPr lang="es-ES_tradnl" sz="2000" b="1" noProof="0" dirty="0" err="1">
                <a:solidFill>
                  <a:srgbClr val="005595"/>
                </a:solidFill>
              </a:rPr>
              <a:t>by</a:t>
            </a:r>
            <a:r>
              <a:rPr lang="es-ES_tradnl" sz="2000" b="1" noProof="0" dirty="0">
                <a:solidFill>
                  <a:srgbClr val="005595"/>
                </a:solidFill>
              </a:rPr>
              <a:t> a </a:t>
            </a:r>
            <a:r>
              <a:rPr lang="es-ES_tradnl" sz="2000" b="1" noProof="0" dirty="0" err="1">
                <a:solidFill>
                  <a:srgbClr val="005595"/>
                </a:solidFill>
              </a:rPr>
              <a:t>translator</a:t>
            </a:r>
            <a:r>
              <a:rPr lang="es-ES_tradnl" sz="2000" b="1" noProof="0" dirty="0">
                <a:solidFill>
                  <a:srgbClr val="005595"/>
                </a:solidFill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s-ES_tradnl" sz="2000" b="1" noProof="0" dirty="0">
                <a:solidFill>
                  <a:srgbClr val="005595"/>
                </a:solidFill>
              </a:rPr>
              <a:t>4. </a:t>
            </a:r>
            <a:r>
              <a:rPr lang="es-ES_tradnl" b="1" noProof="0" dirty="0">
                <a:solidFill>
                  <a:srgbClr val="1B5595"/>
                </a:solidFill>
              </a:rPr>
              <a:t>Evaluación de Términos Espirituales</a:t>
            </a:r>
            <a:r>
              <a:rPr lang="es-ES_tradnl" b="1" noProof="0" dirty="0">
                <a:solidFill>
                  <a:srgbClr val="005595"/>
                </a:solidFill>
              </a:rPr>
              <a:t>	</a:t>
            </a:r>
            <a:r>
              <a:rPr lang="es-ES_tradnl" sz="1900" b="1" noProof="0" dirty="0">
                <a:solidFill>
                  <a:srgbClr val="005595"/>
                </a:solidFill>
              </a:rPr>
              <a:t>Traductores, con líderes espirituales</a:t>
            </a:r>
            <a:endParaRPr lang="es-ES_tradnl" sz="1900" b="1" noProof="0" dirty="0"/>
          </a:p>
          <a:p>
            <a:pPr>
              <a:spcBef>
                <a:spcPts val="600"/>
              </a:spcBef>
            </a:pPr>
            <a:r>
              <a:rPr lang="es-ES_tradnl" sz="2000" b="1" noProof="0" dirty="0">
                <a:solidFill>
                  <a:srgbClr val="005595"/>
                </a:solidFill>
              </a:rPr>
              <a:t>5. </a:t>
            </a:r>
            <a:r>
              <a:rPr lang="es-ES_tradnl" sz="2000" b="1" dirty="0">
                <a:solidFill>
                  <a:srgbClr val="005595"/>
                </a:solidFill>
              </a:rPr>
              <a:t>C</a:t>
            </a:r>
            <a:r>
              <a:rPr lang="es-ES_tradnl" sz="2000" b="1" noProof="0" dirty="0" err="1">
                <a:solidFill>
                  <a:srgbClr val="005595"/>
                </a:solidFill>
              </a:rPr>
              <a:t>orrección</a:t>
            </a:r>
            <a:r>
              <a:rPr lang="es-ES_tradnl" sz="2000" b="1" noProof="0" dirty="0">
                <a:solidFill>
                  <a:srgbClr val="005595"/>
                </a:solidFill>
              </a:rPr>
              <a:t> de Pruebas	 			Uno o dos traductores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DADD327-A292-A313-D155-B94717E1FC1A}"/>
              </a:ext>
            </a:extLst>
          </p:cNvPr>
          <p:cNvSpPr/>
          <p:nvPr/>
        </p:nvSpPr>
        <p:spPr>
          <a:xfrm>
            <a:off x="7205263" y="1569976"/>
            <a:ext cx="343027" cy="731520"/>
          </a:xfrm>
          <a:prstGeom prst="downArrow">
            <a:avLst/>
          </a:prstGeom>
          <a:solidFill>
            <a:srgbClr val="005595"/>
          </a:solidFill>
        </p:spPr>
        <p:txBody>
          <a:bodyPr rtlCol="0" anchor="ctr">
            <a:spAutoFit/>
          </a:bodyPr>
          <a:lstStyle/>
          <a:p>
            <a:pPr algn="ctr"/>
            <a:r>
              <a:rPr lang="es-ES_tradn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E055E44-79B9-EFBF-47BA-9302B5DCFBD6}"/>
              </a:ext>
            </a:extLst>
          </p:cNvPr>
          <p:cNvSpPr/>
          <p:nvPr/>
        </p:nvSpPr>
        <p:spPr>
          <a:xfrm>
            <a:off x="3277872" y="1569976"/>
            <a:ext cx="914400" cy="731520"/>
          </a:xfrm>
          <a:prstGeom prst="downArrow">
            <a:avLst/>
          </a:prstGeom>
          <a:solidFill>
            <a:srgbClr val="00559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s-ES_tradn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E23375A8-4CDE-198F-EB3C-9C768C57621D}"/>
              </a:ext>
            </a:extLst>
          </p:cNvPr>
          <p:cNvSpPr/>
          <p:nvPr/>
        </p:nvSpPr>
        <p:spPr>
          <a:xfrm>
            <a:off x="5581250" y="1569976"/>
            <a:ext cx="914400" cy="731520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ES_tradnl" sz="2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8D95AB-339B-17D2-FE39-99B8DA4CBFE0}"/>
              </a:ext>
            </a:extLst>
          </p:cNvPr>
          <p:cNvSpPr/>
          <p:nvPr/>
        </p:nvSpPr>
        <p:spPr>
          <a:xfrm>
            <a:off x="4759890" y="5364139"/>
            <a:ext cx="2720881" cy="297625"/>
          </a:xfrm>
          <a:prstGeom prst="rect">
            <a:avLst/>
          </a:prstGeom>
          <a:solidFill>
            <a:schemeClr val="bg1"/>
          </a:solidFill>
        </p:spPr>
        <p:txBody>
          <a:bodyPr rtlCol="0" anchor="ctr">
            <a:spAutoFit/>
          </a:bodyPr>
          <a:lstStyle/>
          <a:p>
            <a:pPr algn="ctr"/>
            <a:endParaRPr lang="es-ES_tradnl" sz="2000" noProof="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CCE9B785-B30C-A774-05E3-37416B9904A8}"/>
              </a:ext>
            </a:extLst>
          </p:cNvPr>
          <p:cNvSpPr/>
          <p:nvPr/>
        </p:nvSpPr>
        <p:spPr>
          <a:xfrm>
            <a:off x="5944505" y="1449538"/>
            <a:ext cx="187890" cy="776613"/>
          </a:xfrm>
          <a:prstGeom prst="downArrow">
            <a:avLst/>
          </a:prstGeom>
          <a:solidFill>
            <a:srgbClr val="005595"/>
          </a:solidFill>
        </p:spPr>
        <p:txBody>
          <a:bodyPr rtlCol="0" anchor="ctr">
            <a:spAutoFit/>
          </a:bodyPr>
          <a:lstStyle/>
          <a:p>
            <a:pPr algn="ctr"/>
            <a:endParaRPr lang="es-ES_tradnl" sz="2000" noProof="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93830-5506-6137-241C-FFDC236B262A}"/>
              </a:ext>
            </a:extLst>
          </p:cNvPr>
          <p:cNvSpPr txBox="1"/>
          <p:nvPr/>
        </p:nvSpPr>
        <p:spPr>
          <a:xfrm>
            <a:off x="5875055" y="1675914"/>
            <a:ext cx="34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noProof="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9971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4" grpId="0" animBg="1"/>
      <p:bldP spid="10" grpId="0" animBg="1"/>
      <p:bldP spid="17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695F6F-9920-4E32-98BA-2F12D44A52E6}"/>
              </a:ext>
            </a:extLst>
          </p:cNvPr>
          <p:cNvSpPr txBox="1"/>
          <p:nvPr/>
        </p:nvSpPr>
        <p:spPr>
          <a:xfrm>
            <a:off x="633845" y="737755"/>
            <a:ext cx="7481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b="1" noProof="0" dirty="0">
                <a:solidFill>
                  <a:srgbClr val="B95659"/>
                </a:solidFill>
              </a:rPr>
              <a:t>Panorama General </a:t>
            </a:r>
            <a:r>
              <a:rPr lang="es-ES_tradnl" sz="3200" b="1" noProof="0">
                <a:solidFill>
                  <a:srgbClr val="B95659"/>
                </a:solidFill>
              </a:rPr>
              <a:t>del Proyecto</a:t>
            </a:r>
            <a:endParaRPr lang="es-ES_tradnl" sz="3200" b="1" noProof="0" dirty="0">
              <a:solidFill>
                <a:srgbClr val="B95659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503708-3B54-12C3-5A70-782A4FA807AB}"/>
              </a:ext>
            </a:extLst>
          </p:cNvPr>
          <p:cNvGrpSpPr/>
          <p:nvPr/>
        </p:nvGrpSpPr>
        <p:grpSpPr>
          <a:xfrm>
            <a:off x="0" y="1940916"/>
            <a:ext cx="9143291" cy="2945409"/>
            <a:chOff x="0" y="1940916"/>
            <a:chExt cx="9143291" cy="2945409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5AE9C35-A387-5394-28A4-6237975BD5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71675"/>
              <a:ext cx="9143291" cy="2914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58973C7-4523-6285-3813-7D61D1207E72}"/>
                </a:ext>
              </a:extLst>
            </p:cNvPr>
            <p:cNvSpPr txBox="1"/>
            <p:nvPr/>
          </p:nvSpPr>
          <p:spPr>
            <a:xfrm>
              <a:off x="143809" y="2331674"/>
              <a:ext cx="784690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Evento al inicio del proyecto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345842-0447-F2DE-D89C-A8E069667662}"/>
                </a:ext>
              </a:extLst>
            </p:cNvPr>
            <p:cNvSpPr txBox="1"/>
            <p:nvPr/>
          </p:nvSpPr>
          <p:spPr>
            <a:xfrm>
              <a:off x="702817" y="3972329"/>
              <a:ext cx="1274871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65% Completado: Comienza a planificar el evento #2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7AB222-59AC-293B-4E9B-E92939D77B3A}"/>
                </a:ext>
              </a:extLst>
            </p:cNvPr>
            <p:cNvSpPr txBox="1"/>
            <p:nvPr/>
          </p:nvSpPr>
          <p:spPr>
            <a:xfrm>
              <a:off x="1504639" y="2331673"/>
              <a:ext cx="1161419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75% Completado: Evento #2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5C3785-482B-36A1-DAB0-3B9360D96763}"/>
                </a:ext>
              </a:extLst>
            </p:cNvPr>
            <p:cNvSpPr txBox="1"/>
            <p:nvPr/>
          </p:nvSpPr>
          <p:spPr>
            <a:xfrm>
              <a:off x="2518189" y="3972329"/>
              <a:ext cx="78469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100% Completo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6BA78E-0B39-3565-2743-A57A7D443DB2}"/>
                </a:ext>
              </a:extLst>
            </p:cNvPr>
            <p:cNvSpPr txBox="1"/>
            <p:nvPr/>
          </p:nvSpPr>
          <p:spPr>
            <a:xfrm>
              <a:off x="3106970" y="2177785"/>
              <a:ext cx="1367339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Evento de Refinamiento #1: Guía de Evaluación de Calidad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982E0F-8806-504B-CE65-8D074E0DBA83}"/>
                </a:ext>
              </a:extLst>
            </p:cNvPr>
            <p:cNvSpPr txBox="1"/>
            <p:nvPr/>
          </p:nvSpPr>
          <p:spPr>
            <a:xfrm>
              <a:off x="4081963" y="3972329"/>
              <a:ext cx="898345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i="0" u="none" strike="noStrike" noProof="0" dirty="0">
                  <a:solidFill>
                    <a:srgbClr val="000000"/>
                  </a:solidFill>
                  <a:effectLst/>
                  <a:latin typeface="Segoe UI Web (West European)"/>
                </a:rPr>
                <a:t>Hasta 50 Copias impresas al finalizar el QAG</a:t>
              </a:r>
              <a:endParaRPr lang="es-ES_tradnl" sz="1000" b="1" noProof="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2B3B4B-3740-37CA-7FC6-F2734E929EDE}"/>
                </a:ext>
              </a:extLst>
            </p:cNvPr>
            <p:cNvSpPr txBox="1"/>
            <p:nvPr/>
          </p:nvSpPr>
          <p:spPr>
            <a:xfrm>
              <a:off x="4866654" y="2351661"/>
              <a:ext cx="953570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Sin Evento: Guía de los Revisores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36B595-2855-C180-7783-B5654BC9A094}"/>
                </a:ext>
              </a:extLst>
            </p:cNvPr>
            <p:cNvSpPr txBox="1"/>
            <p:nvPr/>
          </p:nvSpPr>
          <p:spPr>
            <a:xfrm>
              <a:off x="5723262" y="3972329"/>
              <a:ext cx="898345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Hasta 150 Copias impresas al finalizar los GR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36CA63-50AE-41E6-A25C-782CF53940A1}"/>
                </a:ext>
              </a:extLst>
            </p:cNvPr>
            <p:cNvSpPr/>
            <p:nvPr/>
          </p:nvSpPr>
          <p:spPr>
            <a:xfrm>
              <a:off x="7284057" y="3972329"/>
              <a:ext cx="733552" cy="85240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s-ES_tradnl" sz="2000" noProof="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586D17-1C4B-9F9D-9A1D-488590678C7A}"/>
                </a:ext>
              </a:extLst>
            </p:cNvPr>
            <p:cNvSpPr/>
            <p:nvPr/>
          </p:nvSpPr>
          <p:spPr>
            <a:xfrm>
              <a:off x="7463579" y="4532447"/>
              <a:ext cx="707076" cy="2922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s-ES_tradnl" sz="2000" noProof="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9B0DFD-0497-8759-6C41-200F12D4A698}"/>
                </a:ext>
              </a:extLst>
            </p:cNvPr>
            <p:cNvSpPr txBox="1"/>
            <p:nvPr/>
          </p:nvSpPr>
          <p:spPr>
            <a:xfrm>
              <a:off x="7231810" y="3910739"/>
              <a:ext cx="90277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Ejemplares impresos y dedicatoria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10364A-8D5B-1D4F-8A8D-01539474B73B}"/>
                </a:ext>
              </a:extLst>
            </p:cNvPr>
            <p:cNvSpPr/>
            <p:nvPr/>
          </p:nvSpPr>
          <p:spPr>
            <a:xfrm>
              <a:off x="8017609" y="4258717"/>
              <a:ext cx="45719" cy="113721"/>
            </a:xfrm>
            <a:prstGeom prst="rect">
              <a:avLst/>
            </a:prstGeom>
            <a:solidFill>
              <a:srgbClr val="E2BEB5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es-ES_tradnl" sz="2000" noProof="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709F6E-ECEC-9CB9-BBAD-22197B45ECF4}"/>
                </a:ext>
              </a:extLst>
            </p:cNvPr>
            <p:cNvSpPr txBox="1"/>
            <p:nvPr/>
          </p:nvSpPr>
          <p:spPr>
            <a:xfrm>
              <a:off x="6127417" y="1940916"/>
              <a:ext cx="1511944" cy="96949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000" b="1" noProof="0" dirty="0"/>
                <a:t>Evento de refinamiento #2:</a:t>
              </a:r>
            </a:p>
            <a:p>
              <a:pPr algn="ctr"/>
              <a:r>
                <a:rPr lang="es-ES_tradnl" sz="1000" b="1" noProof="0" dirty="0"/>
                <a:t>•</a:t>
              </a:r>
              <a:r>
                <a:rPr lang="es-ES_tradnl" sz="1000" noProof="0" dirty="0"/>
                <a:t> </a:t>
              </a:r>
              <a:r>
                <a:rPr lang="es-ES_tradnl" sz="900" noProof="0" dirty="0"/>
                <a:t>Evaluación de Términos Espirituales</a:t>
              </a:r>
            </a:p>
            <a:p>
              <a:pPr algn="ctr"/>
              <a:r>
                <a:rPr lang="es-ES_tradnl" sz="900" b="1" noProof="0" dirty="0"/>
                <a:t>• </a:t>
              </a:r>
              <a:r>
                <a:rPr lang="es-ES_tradnl" sz="900" noProof="0" dirty="0"/>
                <a:t>Corrección de Pruebas  Revisar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853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A767-14F7-1718-A8CB-1CD045152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854D8F-ADC6-7788-A390-72DF31DC6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8" t="6029" b="13336"/>
          <a:stretch/>
        </p:blipFill>
        <p:spPr>
          <a:xfrm>
            <a:off x="1937995" y="1968285"/>
            <a:ext cx="5268009" cy="3181131"/>
          </a:xfrm>
          <a:prstGeom prst="roundRect">
            <a:avLst>
              <a:gd name="adj" fmla="val 9911"/>
            </a:avLst>
          </a:prstGeom>
          <a:ln w="57150">
            <a:solidFill>
              <a:srgbClr val="83A83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3248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45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fee82e44-1fa4-4144-8309-00fed2bf4198"/>
    <ds:schemaRef ds:uri="http://schemas.microsoft.com/office/infopath/2007/PartnerControls"/>
    <ds:schemaRef ds:uri="1a61c928-f5f6-4989-bd5d-cb8872a1b06d"/>
  </ds:schemaRefs>
</ds:datastoreItem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B29CC1-E656-4579-9C50-89BAE49F997D}">
  <ds:schemaRefs>
    <ds:schemaRef ds:uri="1a61c928-f5f6-4989-bd5d-cb8872a1b06d"/>
    <ds:schemaRef ds:uri="fee82e44-1fa4-4144-8309-00fed2bf41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20502</TotalTime>
  <Words>239</Words>
  <Application>Microsoft Macintosh PowerPoint</Application>
  <PresentationFormat>On-screen Show (4:3)</PresentationFormat>
  <Paragraphs>45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Segoe UI Web (West European)</vt:lpstr>
      <vt:lpstr>Office Theme</vt:lpstr>
      <vt:lpstr>PowerPoint Presentation</vt:lpstr>
      <vt:lpstr>PowerPoint Presentation</vt:lpstr>
      <vt:lpstr>Actividades para Confirmar Calidad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10</cp:revision>
  <dcterms:created xsi:type="dcterms:W3CDTF">2019-03-18T18:21:25Z</dcterms:created>
  <dcterms:modified xsi:type="dcterms:W3CDTF">2025-07-25T20:06:01Z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