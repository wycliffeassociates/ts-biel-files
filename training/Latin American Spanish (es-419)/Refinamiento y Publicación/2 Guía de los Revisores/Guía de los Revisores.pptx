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82" r:id="rId5"/>
    <p:sldId id="281" r:id="rId6"/>
    <p:sldId id="294" r:id="rId7"/>
    <p:sldId id="303" r:id="rId8"/>
    <p:sldId id="302" r:id="rId9"/>
    <p:sldId id="295" r:id="rId10"/>
    <p:sldId id="304" r:id="rId11"/>
    <p:sldId id="305" r:id="rId12"/>
    <p:sldId id="306" r:id="rId13"/>
    <p:sldId id="298" r:id="rId14"/>
    <p:sldId id="29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6557"/>
    <a:srgbClr val="B95659"/>
    <a:srgbClr val="83A83F"/>
    <a:srgbClr val="C3DD93"/>
    <a:srgbClr val="FBA9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62" autoAdjust="0"/>
    <p:restoredTop sz="95721" autoAdjust="0"/>
  </p:normalViewPr>
  <p:slideViewPr>
    <p:cSldViewPr snapToGrid="0">
      <p:cViewPr varScale="1">
        <p:scale>
          <a:sx n="110" d="100"/>
          <a:sy n="110" d="100"/>
        </p:scale>
        <p:origin x="368" y="17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5/10/25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5/10/25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s-ES_tradnl" sz="3600" b="1" noProof="1">
                <a:solidFill>
                  <a:srgbClr val="B95659"/>
                </a:solidFill>
                <a:latin typeface="Arial" panose="020B0604020202020204" pitchFamily="34" charset="0"/>
                <a:ea typeface="+mj-ea"/>
                <a:cs typeface="Arial" panose="020B0604020202020204" pitchFamily="34" charset="0"/>
              </a:rPr>
              <a:t>Uso de la Guía del los Revisores (RG)</a:t>
            </a:r>
          </a:p>
        </p:txBody>
      </p:sp>
      <p:pic>
        <p:nvPicPr>
          <p:cNvPr id="3" name="Picture 2">
            <a:extLst>
              <a:ext uri="{FF2B5EF4-FFF2-40B4-BE49-F238E27FC236}">
                <a16:creationId xmlns:a16="http://schemas.microsoft.com/office/drawing/2014/main" id="{72B62057-EFF0-4BE1-B284-87EB5A339FC5}"/>
              </a:ext>
            </a:extLst>
          </p:cNvPr>
          <p:cNvPicPr>
            <a:picLocks noChangeAspect="1"/>
          </p:cNvPicPr>
          <p:nvPr/>
        </p:nvPicPr>
        <p:blipFill>
          <a:blip r:embed="rId2">
            <a:extLst>
              <a:ext uri="{28A0092B-C50C-407E-A947-70E740481C1C}">
                <a14:useLocalDpi xmlns:a14="http://schemas.microsoft.com/office/drawing/2010/main" val="0"/>
              </a:ext>
            </a:extLst>
          </a:blip>
          <a:srcRect t="6415" b="12673"/>
          <a:stretch/>
        </p:blipFill>
        <p:spPr>
          <a:xfrm>
            <a:off x="0" y="1868731"/>
            <a:ext cx="9144000" cy="4743450"/>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477991"/>
            <a:ext cx="8813508" cy="1200329"/>
          </a:xfrm>
          <a:prstGeom prst="rect">
            <a:avLst/>
          </a:prstGeom>
        </p:spPr>
        <p:txBody>
          <a:bodyPr wrap="square" anchor="ctr">
            <a:spAutoFit/>
          </a:bodyPr>
          <a:lstStyle/>
          <a:p>
            <a:pPr algn="ctr"/>
            <a:r>
              <a:rPr lang="es-ES_tradnl" sz="3600" b="1" noProof="1">
                <a:solidFill>
                  <a:srgbClr val="B95659"/>
                </a:solidFill>
                <a:latin typeface="Arial" panose="020B0604020202020204" pitchFamily="34" charset="0"/>
                <a:ea typeface="+mj-ea"/>
                <a:cs typeface="Arial" panose="020B0604020202020204" pitchFamily="34" charset="0"/>
              </a:rPr>
              <a:t>¿Por qué buscar retroalimentación de la comunidad?</a:t>
            </a:r>
          </a:p>
        </p:txBody>
      </p:sp>
      <p:sp>
        <p:nvSpPr>
          <p:cNvPr id="5" name="Oval 4">
            <a:extLst>
              <a:ext uri="{FF2B5EF4-FFF2-40B4-BE49-F238E27FC236}">
                <a16:creationId xmlns:a16="http://schemas.microsoft.com/office/drawing/2014/main" id="{49393BBD-0193-6250-467C-709FE8414DE0}"/>
              </a:ext>
            </a:extLst>
          </p:cNvPr>
          <p:cNvSpPr/>
          <p:nvPr/>
        </p:nvSpPr>
        <p:spPr>
          <a:xfrm>
            <a:off x="1472470" y="2450183"/>
            <a:ext cx="2560320" cy="2293799"/>
          </a:xfrm>
          <a:prstGeom prst="ellipse">
            <a:avLst/>
          </a:prstGeom>
          <a:solidFill>
            <a:schemeClr val="accent2"/>
          </a:solidFill>
        </p:spPr>
        <p:txBody>
          <a:bodyPr wrap="square" rtlCol="0" anchor="ctr">
            <a:spAutoFit/>
          </a:bodyPr>
          <a:lstStyle/>
          <a:p>
            <a:pPr algn="ctr"/>
            <a:endParaRPr lang="es-ES_tradnl" sz="2000" b="1" noProof="1">
              <a:solidFill>
                <a:schemeClr val="bg1"/>
              </a:solidFill>
              <a:latin typeface="Arial" panose="020B0604020202020204" pitchFamily="34" charset="0"/>
              <a:cs typeface="Arial" panose="020B0604020202020204" pitchFamily="34" charset="0"/>
            </a:endParaRPr>
          </a:p>
          <a:p>
            <a:pPr algn="ctr"/>
            <a:r>
              <a:rPr lang="es-ES_tradnl" sz="2000" b="1" noProof="1">
                <a:solidFill>
                  <a:schemeClr val="bg1"/>
                </a:solidFill>
                <a:latin typeface="Arial" panose="020B0604020202020204" pitchFamily="34" charset="0"/>
                <a:cs typeface="Arial" panose="020B0604020202020204" pitchFamily="34" charset="0"/>
              </a:rPr>
              <a:t>Para mejorar la Calidad</a:t>
            </a:r>
          </a:p>
          <a:p>
            <a:pPr algn="ctr"/>
            <a:endParaRPr lang="es-ES_tradnl" sz="2000" b="1" noProof="1">
              <a:solidFill>
                <a:schemeClr val="bg1"/>
              </a:solidFill>
              <a:latin typeface="Arial" panose="020B0604020202020204" pitchFamily="34" charset="0"/>
              <a:cs typeface="Arial" panose="020B0604020202020204" pitchFamily="34" charset="0"/>
            </a:endParaRPr>
          </a:p>
          <a:p>
            <a:pPr algn="ctr"/>
            <a:endParaRPr lang="es-ES_tradnl" sz="2000" b="1" noProof="1">
              <a:solidFill>
                <a:schemeClr val="bg1"/>
              </a:solidFill>
              <a:latin typeface="Arial" panose="020B0604020202020204" pitchFamily="34" charset="0"/>
              <a:cs typeface="Arial" panose="020B0604020202020204" pitchFamily="34" charset="0"/>
            </a:endParaRPr>
          </a:p>
        </p:txBody>
      </p:sp>
      <p:sp>
        <p:nvSpPr>
          <p:cNvPr id="6" name="Oval 5">
            <a:extLst>
              <a:ext uri="{FF2B5EF4-FFF2-40B4-BE49-F238E27FC236}">
                <a16:creationId xmlns:a16="http://schemas.microsoft.com/office/drawing/2014/main" id="{297326F0-B05F-F696-D730-CA010CD12811}"/>
              </a:ext>
            </a:extLst>
          </p:cNvPr>
          <p:cNvSpPr/>
          <p:nvPr/>
        </p:nvSpPr>
        <p:spPr>
          <a:xfrm>
            <a:off x="5241768" y="2450183"/>
            <a:ext cx="2560320" cy="2293799"/>
          </a:xfrm>
          <a:prstGeom prst="ellipse">
            <a:avLst/>
          </a:prstGeom>
          <a:solidFill>
            <a:schemeClr val="accent3"/>
          </a:solidFill>
        </p:spPr>
        <p:txBody>
          <a:bodyPr rtlCol="0" anchor="ctr">
            <a:spAutoFit/>
          </a:bodyPr>
          <a:lstStyle/>
          <a:p>
            <a:pPr algn="ctr"/>
            <a:endParaRPr lang="es-ES_tradnl" sz="2000" b="1" noProof="1">
              <a:solidFill>
                <a:schemeClr val="bg1"/>
              </a:solidFill>
              <a:latin typeface="Arial" panose="020B0604020202020204" pitchFamily="34" charset="0"/>
              <a:cs typeface="Arial" panose="020B0604020202020204" pitchFamily="34" charset="0"/>
            </a:endParaRPr>
          </a:p>
          <a:p>
            <a:pPr algn="ctr"/>
            <a:r>
              <a:rPr lang="es-ES_tradnl" sz="2000" b="1" noProof="1">
                <a:solidFill>
                  <a:schemeClr val="bg1"/>
                </a:solidFill>
                <a:latin typeface="Arial" panose="020B0604020202020204" pitchFamily="34" charset="0"/>
                <a:cs typeface="Arial" panose="020B0604020202020204" pitchFamily="34" charset="0"/>
              </a:rPr>
              <a:t>Para obtener el apoyo de la comunidad</a:t>
            </a:r>
          </a:p>
        </p:txBody>
      </p:sp>
    </p:spTree>
    <p:extLst>
      <p:ext uri="{BB962C8B-B14F-4D97-AF65-F5344CB8AC3E}">
        <p14:creationId xmlns:p14="http://schemas.microsoft.com/office/powerpoint/2010/main" val="216178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659160"/>
            <a:ext cx="7886700" cy="1325563"/>
          </a:xfrm>
        </p:spPr>
        <p:txBody>
          <a:bodyPr/>
          <a:lstStyle/>
          <a:p>
            <a:r>
              <a:rPr lang="es-ES_tradnl" noProof="1"/>
              <a:t>La gente</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s-ES_tradnl" sz="2000" noProof="1">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715033" y="1660211"/>
            <a:ext cx="5039554" cy="2031325"/>
          </a:xfrm>
          <a:prstGeom prst="rect">
            <a:avLst/>
          </a:prstGeom>
          <a:noFill/>
        </p:spPr>
        <p:txBody>
          <a:bodyPr wrap="square" rtlCol="0">
            <a:spAutoFit/>
          </a:bodyPr>
          <a:lstStyle/>
          <a:p>
            <a:r>
              <a:rPr lang="es-ES_tradnl" b="1" noProof="1">
                <a:solidFill>
                  <a:schemeClr val="accent1"/>
                </a:solidFill>
              </a:rPr>
              <a:t>Líder (1)</a:t>
            </a:r>
          </a:p>
          <a:p>
            <a:pPr marL="285750" indent="-285750">
              <a:buFont typeface="Arial" panose="020B0604020202020204" pitchFamily="34" charset="0"/>
              <a:buChar char="•"/>
            </a:pPr>
            <a:r>
              <a:rPr lang="es-ES_tradnl" noProof="1">
                <a:solidFill>
                  <a:schemeClr val="accent2"/>
                </a:solidFill>
              </a:rPr>
              <a:t>Miembro del equipo de traducción</a:t>
            </a:r>
          </a:p>
          <a:p>
            <a:pPr marL="285750" indent="-285750">
              <a:buFont typeface="Arial" panose="020B0604020202020204" pitchFamily="34" charset="0"/>
              <a:buChar char="•"/>
            </a:pPr>
            <a:r>
              <a:rPr lang="es-ES_tradnl" noProof="1">
                <a:solidFill>
                  <a:schemeClr val="accent2"/>
                </a:solidFill>
              </a:rPr>
              <a:t>Conocimiento bíblico</a:t>
            </a:r>
          </a:p>
          <a:p>
            <a:pPr marL="285750" indent="-285750">
              <a:buFont typeface="Arial" panose="020B0604020202020204" pitchFamily="34" charset="0"/>
              <a:buChar char="•"/>
            </a:pPr>
            <a:r>
              <a:rPr lang="es-ES_tradnl" noProof="1">
                <a:solidFill>
                  <a:schemeClr val="accent2"/>
                </a:solidFill>
              </a:rPr>
              <a:t>Buena reputación</a:t>
            </a:r>
          </a:p>
          <a:p>
            <a:pPr marL="285750" indent="-285750">
              <a:buFont typeface="Arial" panose="020B0604020202020204" pitchFamily="34" charset="0"/>
              <a:buChar char="•"/>
            </a:pPr>
            <a:r>
              <a:rPr lang="es-ES_tradnl" noProof="1">
                <a:solidFill>
                  <a:schemeClr val="accent2"/>
                </a:solidFill>
              </a:rPr>
              <a:t>Buena relación con el equipo</a:t>
            </a:r>
          </a:p>
          <a:p>
            <a:pPr marL="285750" indent="-285750">
              <a:buFont typeface="Arial" panose="020B0604020202020204" pitchFamily="34" charset="0"/>
              <a:buChar char="•"/>
            </a:pPr>
            <a:r>
              <a:rPr lang="es-ES_tradnl" noProof="1">
                <a:solidFill>
                  <a:schemeClr val="accent2"/>
                </a:solidFill>
              </a:rPr>
              <a:t>Acceso a la Escritura en Español</a:t>
            </a:r>
          </a:p>
          <a:p>
            <a:pPr marL="285750" indent="-285750">
              <a:buFont typeface="Arial" panose="020B0604020202020204" pitchFamily="34" charset="0"/>
              <a:buChar char="•"/>
            </a:pPr>
            <a:r>
              <a:rPr lang="es-ES_tradnl" noProof="1">
                <a:solidFill>
                  <a:schemeClr val="accent2"/>
                </a:solidFill>
              </a:rPr>
              <a:t>Habilidades bilingües</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431" y="5554273"/>
            <a:ext cx="1072109" cy="1072109"/>
          </a:xfrm>
          <a:prstGeom prst="rect">
            <a:avLst/>
          </a:prstGeom>
        </p:spPr>
      </p:pic>
      <p:sp>
        <p:nvSpPr>
          <p:cNvPr id="9" name="TextBox 8">
            <a:extLst>
              <a:ext uri="{FF2B5EF4-FFF2-40B4-BE49-F238E27FC236}">
                <a16:creationId xmlns:a16="http://schemas.microsoft.com/office/drawing/2014/main" id="{8386E5E6-A716-2BEB-99D7-CF699BD1ECF3}"/>
              </a:ext>
            </a:extLst>
          </p:cNvPr>
          <p:cNvSpPr txBox="1"/>
          <p:nvPr/>
        </p:nvSpPr>
        <p:spPr>
          <a:xfrm>
            <a:off x="3429644" y="4562690"/>
            <a:ext cx="4498206" cy="1754326"/>
          </a:xfrm>
          <a:prstGeom prst="rect">
            <a:avLst/>
          </a:prstGeom>
          <a:noFill/>
        </p:spPr>
        <p:txBody>
          <a:bodyPr wrap="square" rtlCol="0">
            <a:spAutoFit/>
          </a:bodyPr>
          <a:lstStyle/>
          <a:p>
            <a:r>
              <a:rPr lang="es-ES_tradnl" b="1" noProof="1">
                <a:solidFill>
                  <a:schemeClr val="accent1"/>
                </a:solidFill>
              </a:rPr>
              <a:t>Revisores (2 a 4 personas)</a:t>
            </a:r>
          </a:p>
          <a:p>
            <a:pPr marL="285750" indent="-285750">
              <a:buFont typeface="Arial" panose="020B0604020202020204" pitchFamily="34" charset="0"/>
              <a:buChar char="•"/>
            </a:pPr>
            <a:r>
              <a:rPr lang="es-ES_tradnl" noProof="1">
                <a:solidFill>
                  <a:schemeClr val="accent2"/>
                </a:solidFill>
              </a:rPr>
              <a:t>Creyentes de lengua materna
NO miembros del equipo de traducción
Creyentes con buena reputación
Deseo de tener las Escrituras en la lengua materna.</a:t>
            </a:r>
          </a:p>
        </p:txBody>
      </p:sp>
      <p:pic>
        <p:nvPicPr>
          <p:cNvPr id="11" name="Graphic 10" descr="Open book outline">
            <a:extLst>
              <a:ext uri="{FF2B5EF4-FFF2-40B4-BE49-F238E27FC236}">
                <a16:creationId xmlns:a16="http://schemas.microsoft.com/office/drawing/2014/main" id="{5F37D4AA-B92B-645C-D1CF-6341C7FC6DF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5604" y="3084534"/>
            <a:ext cx="914400" cy="914400"/>
          </a:xfrm>
          <a:prstGeom prst="rect">
            <a:avLst/>
          </a:prstGeom>
        </p:spPr>
      </p:pic>
    </p:spTree>
    <p:extLst>
      <p:ext uri="{BB962C8B-B14F-4D97-AF65-F5344CB8AC3E}">
        <p14:creationId xmlns:p14="http://schemas.microsoft.com/office/powerpoint/2010/main" val="399050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 calcmode="lin" valueType="num">
                                      <p:cBhvr additive="base">
                                        <p:cTn id="7" dur="500" fill="hold"/>
                                        <p:tgtEl>
                                          <p:spTgt spid="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
                                            <p:txEl>
                                              <p:pRg st="1" end="1"/>
                                            </p:txEl>
                                          </p:spTgt>
                                        </p:tgtEl>
                                        <p:attrNameLst>
                                          <p:attrName>style.visibility</p:attrName>
                                        </p:attrNameLst>
                                      </p:cBhvr>
                                      <p:to>
                                        <p:strVal val="visible"/>
                                      </p:to>
                                    </p:set>
                                    <p:anim calcmode="lin" valueType="num">
                                      <p:cBhvr additive="base">
                                        <p:cTn id="13" dur="500" fill="hold"/>
                                        <p:tgtEl>
                                          <p:spTgt spid="8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
                                            <p:txEl>
                                              <p:pRg st="2" end="2"/>
                                            </p:txEl>
                                          </p:spTgt>
                                        </p:tgtEl>
                                        <p:attrNameLst>
                                          <p:attrName>style.visibility</p:attrName>
                                        </p:attrNameLst>
                                      </p:cBhvr>
                                      <p:to>
                                        <p:strVal val="visible"/>
                                      </p:to>
                                    </p:set>
                                    <p:anim calcmode="lin" valueType="num">
                                      <p:cBhvr additive="base">
                                        <p:cTn id="19" dur="500" fill="hold"/>
                                        <p:tgtEl>
                                          <p:spTgt spid="8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
                                            <p:txEl>
                                              <p:pRg st="3" end="3"/>
                                            </p:txEl>
                                          </p:spTgt>
                                        </p:tgtEl>
                                        <p:attrNameLst>
                                          <p:attrName>style.visibility</p:attrName>
                                        </p:attrNameLst>
                                      </p:cBhvr>
                                      <p:to>
                                        <p:strVal val="visible"/>
                                      </p:to>
                                    </p:set>
                                    <p:anim calcmode="lin" valueType="num">
                                      <p:cBhvr additive="base">
                                        <p:cTn id="25" dur="500" fill="hold"/>
                                        <p:tgtEl>
                                          <p:spTgt spid="8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
                                            <p:txEl>
                                              <p:pRg st="4" end="4"/>
                                            </p:txEl>
                                          </p:spTgt>
                                        </p:tgtEl>
                                        <p:attrNameLst>
                                          <p:attrName>style.visibility</p:attrName>
                                        </p:attrNameLst>
                                      </p:cBhvr>
                                      <p:to>
                                        <p:strVal val="visible"/>
                                      </p:to>
                                    </p:set>
                                    <p:anim calcmode="lin" valueType="num">
                                      <p:cBhvr additive="base">
                                        <p:cTn id="31" dur="500" fill="hold"/>
                                        <p:tgtEl>
                                          <p:spTgt spid="8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5">
                                            <p:txEl>
                                              <p:pRg st="5" end="5"/>
                                            </p:txEl>
                                          </p:spTgt>
                                        </p:tgtEl>
                                        <p:attrNameLst>
                                          <p:attrName>style.visibility</p:attrName>
                                        </p:attrNameLst>
                                      </p:cBhvr>
                                      <p:to>
                                        <p:strVal val="visible"/>
                                      </p:to>
                                    </p:set>
                                    <p:anim calcmode="lin" valueType="num">
                                      <p:cBhvr additive="base">
                                        <p:cTn id="37" dur="500" fill="hold"/>
                                        <p:tgtEl>
                                          <p:spTgt spid="8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5">
                                            <p:txEl>
                                              <p:pRg st="6" end="6"/>
                                            </p:txEl>
                                          </p:spTgt>
                                        </p:tgtEl>
                                        <p:attrNameLst>
                                          <p:attrName>style.visibility</p:attrName>
                                        </p:attrNameLst>
                                      </p:cBhvr>
                                      <p:to>
                                        <p:strVal val="visible"/>
                                      </p:to>
                                    </p:set>
                                    <p:anim calcmode="lin" valueType="num">
                                      <p:cBhvr additive="base">
                                        <p:cTn id="43" dur="500" fill="hold"/>
                                        <p:tgtEl>
                                          <p:spTgt spid="8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anim calcmode="lin" valueType="num">
                                      <p:cBhvr additive="base">
                                        <p:cTn id="49"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8C47F-8DB3-2D06-45D6-D132C8AE0100}"/>
              </a:ext>
            </a:extLst>
          </p:cNvPr>
          <p:cNvSpPr>
            <a:spLocks noGrp="1"/>
          </p:cNvSpPr>
          <p:nvPr>
            <p:ph type="title"/>
          </p:nvPr>
        </p:nvSpPr>
        <p:spPr/>
        <p:txBody>
          <a:bodyPr/>
          <a:lstStyle/>
          <a:p>
            <a:r>
              <a:rPr lang="es-ES_tradnl" noProof="1"/>
              <a:t>Prepárese para la Revisión</a:t>
            </a:r>
          </a:p>
        </p:txBody>
      </p:sp>
      <p:sp>
        <p:nvSpPr>
          <p:cNvPr id="3" name="TextBox 2">
            <a:extLst>
              <a:ext uri="{FF2B5EF4-FFF2-40B4-BE49-F238E27FC236}">
                <a16:creationId xmlns:a16="http://schemas.microsoft.com/office/drawing/2014/main" id="{0864C476-F76F-0EF0-4DD1-A14BAFF7DF2E}"/>
              </a:ext>
            </a:extLst>
          </p:cNvPr>
          <p:cNvSpPr txBox="1"/>
          <p:nvPr/>
        </p:nvSpPr>
        <p:spPr>
          <a:xfrm>
            <a:off x="967357" y="1736515"/>
            <a:ext cx="7886700" cy="2031325"/>
          </a:xfrm>
          <a:prstGeom prst="rect">
            <a:avLst/>
          </a:prstGeom>
          <a:noFill/>
        </p:spPr>
        <p:txBody>
          <a:bodyPr wrap="square" rtlCol="0">
            <a:spAutoFit/>
          </a:bodyPr>
          <a:lstStyle/>
          <a:p>
            <a:pPr marL="285750" indent="-285750">
              <a:buFont typeface="Arial" panose="020B0604020202020204" pitchFamily="34" charset="0"/>
              <a:buChar char="•"/>
            </a:pPr>
            <a:r>
              <a:rPr lang="es-ES_tradnl" b="1" noProof="1">
                <a:solidFill>
                  <a:srgbClr val="716557"/>
                </a:solidFill>
              </a:rPr>
              <a:t>Encuentra un lugar para reunirse
Recoger materiales:</a:t>
            </a:r>
          </a:p>
          <a:p>
            <a:pPr marL="742950" lvl="1" indent="-285750">
              <a:buFont typeface="Arial" panose="020B0604020202020204" pitchFamily="34" charset="0"/>
              <a:buChar char="•"/>
            </a:pPr>
            <a:r>
              <a:rPr lang="es-ES_tradnl" b="1" noProof="1">
                <a:solidFill>
                  <a:srgbClr val="716557"/>
                </a:solidFill>
              </a:rPr>
              <a:t>Una copia impresa de la Guía de los Revisores</a:t>
            </a:r>
          </a:p>
          <a:p>
            <a:pPr marL="742950" lvl="1" indent="-285750">
              <a:buFont typeface="Arial" panose="020B0604020202020204" pitchFamily="34" charset="0"/>
              <a:buChar char="•"/>
            </a:pPr>
            <a:r>
              <a:rPr lang="es-ES_tradnl" b="1" noProof="1">
                <a:solidFill>
                  <a:srgbClr val="716557"/>
                </a:solidFill>
              </a:rPr>
              <a:t>Escrituras traducidas impresas para el líder y los revisores</a:t>
            </a:r>
          </a:p>
          <a:p>
            <a:pPr marL="742950" lvl="1" indent="-285750">
              <a:buFont typeface="Arial" panose="020B0604020202020204" pitchFamily="34" charset="0"/>
              <a:buChar char="•"/>
            </a:pPr>
            <a:r>
              <a:rPr lang="es-ES_tradnl" b="1" noProof="1">
                <a:solidFill>
                  <a:srgbClr val="716557"/>
                </a:solidFill>
              </a:rPr>
              <a:t>Acceso a la Escritura en el idioma en Español</a:t>
            </a:r>
          </a:p>
          <a:p>
            <a:pPr marL="742950" lvl="1" indent="-285750">
              <a:buFont typeface="Arial" panose="020B0604020202020204" pitchFamily="34" charset="0"/>
              <a:buChar char="•"/>
            </a:pPr>
            <a:r>
              <a:rPr lang="es-ES_tradnl" b="1" noProof="1">
                <a:solidFill>
                  <a:srgbClr val="716557"/>
                </a:solidFill>
              </a:rPr>
              <a:t>Lápiz y papel</a:t>
            </a:r>
          </a:p>
          <a:p>
            <a:pPr marL="285750" indent="-285750">
              <a:buFont typeface="Arial" panose="020B0604020202020204" pitchFamily="34" charset="0"/>
              <a:buChar char="•"/>
            </a:pPr>
            <a:r>
              <a:rPr lang="es-ES_tradnl" b="1" noProof="1">
                <a:solidFill>
                  <a:srgbClr val="716557"/>
                </a:solidFill>
              </a:rPr>
              <a:t>Tómese el tiempo para leer el pasaje y la Guía de los revisores</a:t>
            </a:r>
          </a:p>
        </p:txBody>
      </p:sp>
      <p:pic>
        <p:nvPicPr>
          <p:cNvPr id="6" name="Picture 5" descr="A group of people sitting at a table writing on paper&#10;&#10;Description automatically generated">
            <a:extLst>
              <a:ext uri="{FF2B5EF4-FFF2-40B4-BE49-F238E27FC236}">
                <a16:creationId xmlns:a16="http://schemas.microsoft.com/office/drawing/2014/main" id="{3373EE68-1DA3-B371-5575-79929AF35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354" y="3907020"/>
            <a:ext cx="3419291" cy="2564468"/>
          </a:xfrm>
          <a:prstGeom prst="rect">
            <a:avLst/>
          </a:prstGeom>
        </p:spPr>
      </p:pic>
      <p:pic>
        <p:nvPicPr>
          <p:cNvPr id="4" name="Graphic 3" descr="User with solid fill">
            <a:extLst>
              <a:ext uri="{FF2B5EF4-FFF2-40B4-BE49-F238E27FC236}">
                <a16:creationId xmlns:a16="http://schemas.microsoft.com/office/drawing/2014/main" id="{F84133D2-A9D0-AF15-8584-D0E584BA6A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966" y="506320"/>
            <a:ext cx="1072109" cy="1072109"/>
          </a:xfrm>
          <a:prstGeom prst="rect">
            <a:avLst/>
          </a:prstGeom>
        </p:spPr>
      </p:pic>
      <p:pic>
        <p:nvPicPr>
          <p:cNvPr id="5" name="Graphic 4" descr="Clipboard outline">
            <a:extLst>
              <a:ext uri="{FF2B5EF4-FFF2-40B4-BE49-F238E27FC236}">
                <a16:creationId xmlns:a16="http://schemas.microsoft.com/office/drawing/2014/main" id="{87424249-5705-BB1A-9CF6-0623F19E6E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5434" y="644549"/>
            <a:ext cx="457200" cy="457200"/>
          </a:xfrm>
          <a:prstGeom prst="rect">
            <a:avLst/>
          </a:prstGeom>
        </p:spPr>
      </p:pic>
    </p:spTree>
    <p:extLst>
      <p:ext uri="{BB962C8B-B14F-4D97-AF65-F5344CB8AC3E}">
        <p14:creationId xmlns:p14="http://schemas.microsoft.com/office/powerpoint/2010/main" val="26765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D407E-E7F1-5851-A154-9948961DA25A}"/>
              </a:ext>
            </a:extLst>
          </p:cNvPr>
          <p:cNvSpPr>
            <a:spLocks noGrp="1"/>
          </p:cNvSpPr>
          <p:nvPr>
            <p:ph type="title"/>
          </p:nvPr>
        </p:nvSpPr>
        <p:spPr/>
        <p:txBody>
          <a:bodyPr/>
          <a:lstStyle/>
          <a:p>
            <a:r>
              <a:rPr lang="es-ES_tradnl" noProof="1"/>
              <a:t>Revisa un pasaje</a:t>
            </a:r>
          </a:p>
        </p:txBody>
      </p:sp>
      <p:pic>
        <p:nvPicPr>
          <p:cNvPr id="3" name="Graphic 2" descr="User with solid fill">
            <a:extLst>
              <a:ext uri="{FF2B5EF4-FFF2-40B4-BE49-F238E27FC236}">
                <a16:creationId xmlns:a16="http://schemas.microsoft.com/office/drawing/2014/main" id="{A91FA892-B944-7626-F197-81825DFD5E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9664" y="1485552"/>
            <a:ext cx="1072109" cy="1072109"/>
          </a:xfrm>
          <a:prstGeom prst="rect">
            <a:avLst/>
          </a:prstGeom>
        </p:spPr>
      </p:pic>
      <p:pic>
        <p:nvPicPr>
          <p:cNvPr id="5" name="Graphic 4" descr="Clipboard outline">
            <a:extLst>
              <a:ext uri="{FF2B5EF4-FFF2-40B4-BE49-F238E27FC236}">
                <a16:creationId xmlns:a16="http://schemas.microsoft.com/office/drawing/2014/main" id="{A00E2EC9-E7FE-8261-3154-3E440E5600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6168" y="1661203"/>
            <a:ext cx="457200" cy="457200"/>
          </a:xfrm>
          <a:prstGeom prst="rect">
            <a:avLst/>
          </a:prstGeom>
        </p:spPr>
      </p:pic>
      <p:pic>
        <p:nvPicPr>
          <p:cNvPr id="7" name="Graphic 6" descr="User with solid fill">
            <a:extLst>
              <a:ext uri="{FF2B5EF4-FFF2-40B4-BE49-F238E27FC236}">
                <a16:creationId xmlns:a16="http://schemas.microsoft.com/office/drawing/2014/main" id="{78EE56C4-9B8D-E190-FFFE-EB268FE0A7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3603" y="3982478"/>
            <a:ext cx="1182489" cy="1182489"/>
          </a:xfrm>
          <a:prstGeom prst="rect">
            <a:avLst/>
          </a:prstGeom>
        </p:spPr>
      </p:pic>
      <p:pic>
        <p:nvPicPr>
          <p:cNvPr id="8" name="Graphic 7" descr="User with solid fill">
            <a:extLst>
              <a:ext uri="{FF2B5EF4-FFF2-40B4-BE49-F238E27FC236}">
                <a16:creationId xmlns:a16="http://schemas.microsoft.com/office/drawing/2014/main" id="{483E87FB-D474-8F86-DAA7-D79A2786BE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20160" y="3930970"/>
            <a:ext cx="1182489" cy="1182489"/>
          </a:xfrm>
          <a:prstGeom prst="rect">
            <a:avLst/>
          </a:prstGeom>
        </p:spPr>
      </p:pic>
      <p:pic>
        <p:nvPicPr>
          <p:cNvPr id="9" name="Graphic 8" descr="User with solid fill">
            <a:extLst>
              <a:ext uri="{FF2B5EF4-FFF2-40B4-BE49-F238E27FC236}">
                <a16:creationId xmlns:a16="http://schemas.microsoft.com/office/drawing/2014/main" id="{BA9113A0-4C20-0D99-5E50-E5503CAA233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20160" y="5349105"/>
            <a:ext cx="1182489" cy="1182489"/>
          </a:xfrm>
          <a:prstGeom prst="rect">
            <a:avLst/>
          </a:prstGeom>
        </p:spPr>
      </p:pic>
      <p:pic>
        <p:nvPicPr>
          <p:cNvPr id="10" name="Graphic 9" descr="User with solid fill">
            <a:extLst>
              <a:ext uri="{FF2B5EF4-FFF2-40B4-BE49-F238E27FC236}">
                <a16:creationId xmlns:a16="http://schemas.microsoft.com/office/drawing/2014/main" id="{16BCE283-C8EC-1805-3002-EFBB0EE4EDB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23602" y="5364198"/>
            <a:ext cx="1182489" cy="1182489"/>
          </a:xfrm>
          <a:prstGeom prst="rect">
            <a:avLst/>
          </a:prstGeom>
        </p:spPr>
      </p:pic>
      <p:sp>
        <p:nvSpPr>
          <p:cNvPr id="11" name="TextBox 10">
            <a:extLst>
              <a:ext uri="{FF2B5EF4-FFF2-40B4-BE49-F238E27FC236}">
                <a16:creationId xmlns:a16="http://schemas.microsoft.com/office/drawing/2014/main" id="{24F49C6F-3DEE-94D4-E8F4-4CFD0F1F3254}"/>
              </a:ext>
            </a:extLst>
          </p:cNvPr>
          <p:cNvSpPr txBox="1"/>
          <p:nvPr/>
        </p:nvSpPr>
        <p:spPr>
          <a:xfrm>
            <a:off x="2182156" y="1291266"/>
            <a:ext cx="6472179" cy="2462213"/>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s-ES_tradnl" b="1" noProof="1">
                <a:solidFill>
                  <a:srgbClr val="83A83F"/>
                </a:solidFill>
              </a:rPr>
              <a:t>Leer el trasfondo.</a:t>
            </a:r>
          </a:p>
          <a:p>
            <a:pPr marL="285750" indent="-285750">
              <a:buFont typeface="Arial" panose="020B0604020202020204" pitchFamily="34" charset="0"/>
              <a:buChar char="•"/>
            </a:pPr>
            <a:r>
              <a:rPr lang="es-ES_tradnl" b="1" noProof="1">
                <a:solidFill>
                  <a:srgbClr val="83A83F"/>
                </a:solidFill>
              </a:rPr>
              <a:t>Leer el pasaje traducido</a:t>
            </a:r>
          </a:p>
          <a:p>
            <a:pPr marL="285750" indent="-285750">
              <a:spcBef>
                <a:spcPts val="600"/>
              </a:spcBef>
              <a:buFont typeface="Arial" panose="020B0604020202020204" pitchFamily="34" charset="0"/>
              <a:buChar char="•"/>
            </a:pPr>
            <a:r>
              <a:rPr lang="es-ES_tradnl" b="1" noProof="1">
                <a:solidFill>
                  <a:srgbClr val="83A83F"/>
                </a:solidFill>
              </a:rPr>
              <a:t>Parte 1:</a:t>
            </a:r>
          </a:p>
          <a:p>
            <a:pPr lvl="2"/>
            <a:r>
              <a:rPr lang="es-ES_tradnl" b="1" noProof="1">
                <a:solidFill>
                  <a:srgbClr val="83A83F"/>
                </a:solidFill>
              </a:rPr>
              <a:t>Pedir un resumen </a:t>
            </a:r>
          </a:p>
          <a:p>
            <a:r>
              <a:rPr lang="es-ES_tradnl" b="1" noProof="1">
                <a:solidFill>
                  <a:srgbClr val="83A83F"/>
                </a:solidFill>
              </a:rPr>
              <a:t>		Marcar la casilla para cada respuesta completa</a:t>
            </a:r>
          </a:p>
          <a:p>
            <a:pPr marL="285750" indent="-285750">
              <a:spcBef>
                <a:spcPts val="600"/>
              </a:spcBef>
              <a:buFont typeface="Arial" panose="020B0604020202020204" pitchFamily="34" charset="0"/>
              <a:buChar char="•"/>
            </a:pPr>
            <a:r>
              <a:rPr lang="es-ES_tradnl" b="1" noProof="1">
                <a:solidFill>
                  <a:srgbClr val="83A83F"/>
                </a:solidFill>
              </a:rPr>
              <a:t>Parte 2: </a:t>
            </a:r>
          </a:p>
          <a:p>
            <a:pPr lvl="2"/>
            <a:r>
              <a:rPr lang="es-ES_tradnl" b="1" noProof="1">
                <a:solidFill>
                  <a:srgbClr val="83A83F"/>
                </a:solidFill>
              </a:rPr>
              <a:t>Hacer preguntas</a:t>
            </a:r>
          </a:p>
          <a:p>
            <a:pPr lvl="2"/>
            <a:r>
              <a:rPr lang="es-ES_tradnl" b="1" noProof="1">
                <a:solidFill>
                  <a:srgbClr val="83A83F"/>
                </a:solidFill>
              </a:rPr>
              <a:t>Tomar notas sobre cualquier cuestión</a:t>
            </a:r>
          </a:p>
        </p:txBody>
      </p:sp>
      <p:sp>
        <p:nvSpPr>
          <p:cNvPr id="12" name="TextBox 11">
            <a:extLst>
              <a:ext uri="{FF2B5EF4-FFF2-40B4-BE49-F238E27FC236}">
                <a16:creationId xmlns:a16="http://schemas.microsoft.com/office/drawing/2014/main" id="{D415D071-5A0C-1B65-538A-D43349638B3F}"/>
              </a:ext>
            </a:extLst>
          </p:cNvPr>
          <p:cNvSpPr txBox="1"/>
          <p:nvPr/>
        </p:nvSpPr>
        <p:spPr>
          <a:xfrm>
            <a:off x="514924" y="4522215"/>
            <a:ext cx="5666744" cy="190821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s-ES_tradnl" b="1" noProof="1">
                <a:solidFill>
                  <a:srgbClr val="B95659"/>
                </a:solidFill>
              </a:rPr>
              <a:t>Escuchar/leer</a:t>
            </a:r>
          </a:p>
          <a:p>
            <a:pPr marL="285750" indent="-285750">
              <a:spcBef>
                <a:spcPts val="600"/>
              </a:spcBef>
              <a:buFont typeface="Arial" panose="020B0604020202020204" pitchFamily="34" charset="0"/>
              <a:buChar char="•"/>
            </a:pPr>
            <a:r>
              <a:rPr lang="es-ES_tradnl" b="1" noProof="1">
                <a:solidFill>
                  <a:srgbClr val="B95659"/>
                </a:solidFill>
              </a:rPr>
              <a:t>Parte 1:</a:t>
            </a:r>
          </a:p>
          <a:p>
            <a:pPr lvl="1"/>
            <a:r>
              <a:rPr lang="es-ES_tradnl" b="1" noProof="1">
                <a:solidFill>
                  <a:srgbClr val="B95659"/>
                </a:solidFill>
              </a:rPr>
              <a:t>	Compartir resumen del pasaje </a:t>
            </a:r>
          </a:p>
          <a:p>
            <a:pPr marL="285750" indent="-285750">
              <a:spcBef>
                <a:spcPts val="600"/>
              </a:spcBef>
              <a:buFont typeface="Arial" panose="020B0604020202020204" pitchFamily="34" charset="0"/>
              <a:buChar char="•"/>
            </a:pPr>
            <a:r>
              <a:rPr lang="es-ES_tradnl" b="1" noProof="1">
                <a:solidFill>
                  <a:srgbClr val="B95659"/>
                </a:solidFill>
              </a:rPr>
              <a:t>Parte 2: </a:t>
            </a:r>
          </a:p>
          <a:p>
            <a:pPr lvl="2"/>
            <a:r>
              <a:rPr lang="es-ES_tradnl" b="1" noProof="1">
                <a:solidFill>
                  <a:srgbClr val="B95659"/>
                </a:solidFill>
              </a:rPr>
              <a:t>Mirar los versículos
Responder preguntas </a:t>
            </a:r>
          </a:p>
        </p:txBody>
      </p:sp>
      <p:sp>
        <p:nvSpPr>
          <p:cNvPr id="4" name="TextBox 3">
            <a:extLst>
              <a:ext uri="{FF2B5EF4-FFF2-40B4-BE49-F238E27FC236}">
                <a16:creationId xmlns:a16="http://schemas.microsoft.com/office/drawing/2014/main" id="{7622EE4B-DA9E-9816-3774-D28A2E6076C2}"/>
              </a:ext>
            </a:extLst>
          </p:cNvPr>
          <p:cNvSpPr txBox="1"/>
          <p:nvPr/>
        </p:nvSpPr>
        <p:spPr>
          <a:xfrm>
            <a:off x="538663" y="2557661"/>
            <a:ext cx="1072109" cy="369332"/>
          </a:xfrm>
          <a:prstGeom prst="rect">
            <a:avLst/>
          </a:prstGeom>
          <a:noFill/>
        </p:spPr>
        <p:txBody>
          <a:bodyPr wrap="square" rtlCol="0" anchor="ctr" anchorCtr="0">
            <a:spAutoFit/>
          </a:bodyPr>
          <a:lstStyle/>
          <a:p>
            <a:r>
              <a:rPr lang="es-ES_tradnl" b="1" noProof="1">
                <a:solidFill>
                  <a:schemeClr val="accent2"/>
                </a:solidFill>
              </a:rPr>
              <a:t>Líder</a:t>
            </a:r>
          </a:p>
        </p:txBody>
      </p:sp>
      <p:sp>
        <p:nvSpPr>
          <p:cNvPr id="6" name="TextBox 5">
            <a:extLst>
              <a:ext uri="{FF2B5EF4-FFF2-40B4-BE49-F238E27FC236}">
                <a16:creationId xmlns:a16="http://schemas.microsoft.com/office/drawing/2014/main" id="{65DAADAD-E689-4BBB-D4F1-8115B62C08D2}"/>
              </a:ext>
            </a:extLst>
          </p:cNvPr>
          <p:cNvSpPr txBox="1"/>
          <p:nvPr/>
        </p:nvSpPr>
        <p:spPr>
          <a:xfrm>
            <a:off x="6884682" y="5057643"/>
            <a:ext cx="1387121" cy="369332"/>
          </a:xfrm>
          <a:prstGeom prst="rect">
            <a:avLst/>
          </a:prstGeom>
          <a:noFill/>
        </p:spPr>
        <p:txBody>
          <a:bodyPr wrap="square" rtlCol="0">
            <a:spAutoFit/>
          </a:bodyPr>
          <a:lstStyle/>
          <a:p>
            <a:r>
              <a:rPr lang="es-ES_tradnl" b="1" noProof="1">
                <a:solidFill>
                  <a:schemeClr val="accent1"/>
                </a:solidFill>
              </a:rPr>
              <a:t>Revisores</a:t>
            </a:r>
            <a:endParaRPr lang="es-ES_tradnl" noProof="1"/>
          </a:p>
        </p:txBody>
      </p:sp>
    </p:spTree>
    <p:extLst>
      <p:ext uri="{BB962C8B-B14F-4D97-AF65-F5344CB8AC3E}">
        <p14:creationId xmlns:p14="http://schemas.microsoft.com/office/powerpoint/2010/main" val="106507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ppt_x</p:attrName>
                                        </p:attrNameLst>
                                      </p:cBhvr>
                                      <p:tavLst>
                                        <p:tav tm="0">
                                          <p:val>
                                            <p:strVal val="#ppt_x-#ppt_w*1.125000"/>
                                          </p:val>
                                        </p:tav>
                                        <p:tav tm="100000">
                                          <p:val>
                                            <p:strVal val="#ppt_x"/>
                                          </p:val>
                                        </p:tav>
                                      </p:tavLst>
                                    </p:anim>
                                    <p:animEffect transition="in" filter="wipe(right)">
                                      <p:cBhvr>
                                        <p:cTn id="8" dur="50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p:tgtEl>
                                          <p:spTgt spid="11">
                                            <p:txEl>
                                              <p:pRg st="1" end="1"/>
                                            </p:txEl>
                                          </p:spTgt>
                                        </p:tgtEl>
                                        <p:attrNameLst>
                                          <p:attrName>ppt_x</p:attrName>
                                        </p:attrNameLst>
                                      </p:cBhvr>
                                      <p:tavLst>
                                        <p:tav tm="0">
                                          <p:val>
                                            <p:strVal val="#ppt_x-#ppt_w*1.125000"/>
                                          </p:val>
                                        </p:tav>
                                        <p:tav tm="100000">
                                          <p:val>
                                            <p:strVal val="#ppt_x"/>
                                          </p:val>
                                        </p:tav>
                                      </p:tavLst>
                                    </p:anim>
                                    <p:animEffect transition="in" filter="wipe(right)">
                                      <p:cBhvr>
                                        <p:cTn id="14" dur="500"/>
                                        <p:tgtEl>
                                          <p:spTgt spid="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 calcmode="lin" valueType="num">
                                      <p:cBhvr additive="base">
                                        <p:cTn id="19" dur="500"/>
                                        <p:tgtEl>
                                          <p:spTgt spid="12">
                                            <p:txEl>
                                              <p:pRg st="0" end="0"/>
                                            </p:txEl>
                                          </p:spTgt>
                                        </p:tgtEl>
                                        <p:attrNameLst>
                                          <p:attrName>ppt_x</p:attrName>
                                        </p:attrNameLst>
                                      </p:cBhvr>
                                      <p:tavLst>
                                        <p:tav tm="0">
                                          <p:val>
                                            <p:strVal val="#ppt_x-#ppt_w*1.125000"/>
                                          </p:val>
                                        </p:tav>
                                        <p:tav tm="100000">
                                          <p:val>
                                            <p:strVal val="#ppt_x"/>
                                          </p:val>
                                        </p:tav>
                                      </p:tavLst>
                                    </p:anim>
                                    <p:animEffect transition="in" filter="wipe(right)">
                                      <p:cBhvr>
                                        <p:cTn id="20" dur="5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8"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 calcmode="lin" valueType="num">
                                      <p:cBhvr additive="base">
                                        <p:cTn id="25" dur="500"/>
                                        <p:tgtEl>
                                          <p:spTgt spid="11">
                                            <p:txEl>
                                              <p:pRg st="2" end="2"/>
                                            </p:txEl>
                                          </p:spTgt>
                                        </p:tgtEl>
                                        <p:attrNameLst>
                                          <p:attrName>ppt_x</p:attrName>
                                        </p:attrNameLst>
                                      </p:cBhvr>
                                      <p:tavLst>
                                        <p:tav tm="0">
                                          <p:val>
                                            <p:strVal val="#ppt_x-#ppt_w*1.125000"/>
                                          </p:val>
                                        </p:tav>
                                        <p:tav tm="100000">
                                          <p:val>
                                            <p:strVal val="#ppt_x"/>
                                          </p:val>
                                        </p:tav>
                                      </p:tavLst>
                                    </p:anim>
                                    <p:animEffect transition="in" filter="wipe(right)">
                                      <p:cBhvr>
                                        <p:cTn id="26" dur="500"/>
                                        <p:tgtEl>
                                          <p:spTgt spid="11">
                                            <p:txEl>
                                              <p:pRg st="2" end="2"/>
                                            </p:txEl>
                                          </p:spTgt>
                                        </p:tgtEl>
                                      </p:cBhvr>
                                    </p:animEffect>
                                  </p:childTnLst>
                                </p:cTn>
                              </p:par>
                              <p:par>
                                <p:cTn id="27" presetID="12" presetClass="entr" presetSubtype="8" fill="hold" nodeType="with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anim calcmode="lin" valueType="num">
                                      <p:cBhvr additive="base">
                                        <p:cTn id="29" dur="500"/>
                                        <p:tgtEl>
                                          <p:spTgt spid="11">
                                            <p:txEl>
                                              <p:pRg st="3" end="3"/>
                                            </p:txEl>
                                          </p:spTgt>
                                        </p:tgtEl>
                                        <p:attrNameLst>
                                          <p:attrName>ppt_x</p:attrName>
                                        </p:attrNameLst>
                                      </p:cBhvr>
                                      <p:tavLst>
                                        <p:tav tm="0">
                                          <p:val>
                                            <p:strVal val="#ppt_x-#ppt_w*1.125000"/>
                                          </p:val>
                                        </p:tav>
                                        <p:tav tm="100000">
                                          <p:val>
                                            <p:strVal val="#ppt_x"/>
                                          </p:val>
                                        </p:tav>
                                      </p:tavLst>
                                    </p:anim>
                                    <p:animEffect transition="in" filter="wipe(right)">
                                      <p:cBhvr>
                                        <p:cTn id="30" dur="500"/>
                                        <p:tgtEl>
                                          <p:spTgt spid="1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12">
                                            <p:txEl>
                                              <p:pRg st="1" end="1"/>
                                            </p:txEl>
                                          </p:spTgt>
                                        </p:tgtEl>
                                        <p:attrNameLst>
                                          <p:attrName>style.visibility</p:attrName>
                                        </p:attrNameLst>
                                      </p:cBhvr>
                                      <p:to>
                                        <p:strVal val="visible"/>
                                      </p:to>
                                    </p:set>
                                    <p:anim calcmode="lin" valueType="num">
                                      <p:cBhvr additive="base">
                                        <p:cTn id="35" dur="500"/>
                                        <p:tgtEl>
                                          <p:spTgt spid="12">
                                            <p:txEl>
                                              <p:pRg st="1" end="1"/>
                                            </p:txEl>
                                          </p:spTgt>
                                        </p:tgtEl>
                                        <p:attrNameLst>
                                          <p:attrName>ppt_x</p:attrName>
                                        </p:attrNameLst>
                                      </p:cBhvr>
                                      <p:tavLst>
                                        <p:tav tm="0">
                                          <p:val>
                                            <p:strVal val="#ppt_x-#ppt_w*1.125000"/>
                                          </p:val>
                                        </p:tav>
                                        <p:tav tm="100000">
                                          <p:val>
                                            <p:strVal val="#ppt_x"/>
                                          </p:val>
                                        </p:tav>
                                      </p:tavLst>
                                    </p:anim>
                                    <p:animEffect transition="in" filter="wipe(right)">
                                      <p:cBhvr>
                                        <p:cTn id="36" dur="500"/>
                                        <p:tgtEl>
                                          <p:spTgt spid="12">
                                            <p:txEl>
                                              <p:pRg st="1" end="1"/>
                                            </p:txEl>
                                          </p:spTgt>
                                        </p:tgtEl>
                                      </p:cBhvr>
                                    </p:animEffect>
                                  </p:childTnLst>
                                </p:cTn>
                              </p:par>
                              <p:par>
                                <p:cTn id="37" presetID="12" presetClass="entr" presetSubtype="8" fill="hold" nodeType="withEffect">
                                  <p:stCondLst>
                                    <p:cond delay="0"/>
                                  </p:stCondLst>
                                  <p:childTnLst>
                                    <p:set>
                                      <p:cBhvr>
                                        <p:cTn id="38" dur="1" fill="hold">
                                          <p:stCondLst>
                                            <p:cond delay="0"/>
                                          </p:stCondLst>
                                        </p:cTn>
                                        <p:tgtEl>
                                          <p:spTgt spid="12">
                                            <p:txEl>
                                              <p:pRg st="2" end="2"/>
                                            </p:txEl>
                                          </p:spTgt>
                                        </p:tgtEl>
                                        <p:attrNameLst>
                                          <p:attrName>style.visibility</p:attrName>
                                        </p:attrNameLst>
                                      </p:cBhvr>
                                      <p:to>
                                        <p:strVal val="visible"/>
                                      </p:to>
                                    </p:set>
                                    <p:anim calcmode="lin" valueType="num">
                                      <p:cBhvr additive="base">
                                        <p:cTn id="39" dur="500"/>
                                        <p:tgtEl>
                                          <p:spTgt spid="12">
                                            <p:txEl>
                                              <p:pRg st="2" end="2"/>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12">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1">
                                            <p:txEl>
                                              <p:pRg st="4" end="4"/>
                                            </p:txEl>
                                          </p:spTgt>
                                        </p:tgtEl>
                                        <p:attrNameLst>
                                          <p:attrName>style.visibility</p:attrName>
                                        </p:attrNameLst>
                                      </p:cBhvr>
                                      <p:to>
                                        <p:strVal val="visible"/>
                                      </p:to>
                                    </p:set>
                                    <p:anim calcmode="lin" valueType="num">
                                      <p:cBhvr additive="base">
                                        <p:cTn id="45" dur="500"/>
                                        <p:tgtEl>
                                          <p:spTgt spid="11">
                                            <p:txEl>
                                              <p:pRg st="4" end="4"/>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11">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nodeType="clickEffect">
                                  <p:stCondLst>
                                    <p:cond delay="0"/>
                                  </p:stCondLst>
                                  <p:childTnLst>
                                    <p:set>
                                      <p:cBhvr>
                                        <p:cTn id="50" dur="1" fill="hold">
                                          <p:stCondLst>
                                            <p:cond delay="0"/>
                                          </p:stCondLst>
                                        </p:cTn>
                                        <p:tgtEl>
                                          <p:spTgt spid="11">
                                            <p:txEl>
                                              <p:pRg st="5" end="5"/>
                                            </p:txEl>
                                          </p:spTgt>
                                        </p:tgtEl>
                                        <p:attrNameLst>
                                          <p:attrName>style.visibility</p:attrName>
                                        </p:attrNameLst>
                                      </p:cBhvr>
                                      <p:to>
                                        <p:strVal val="visible"/>
                                      </p:to>
                                    </p:set>
                                    <p:anim calcmode="lin" valueType="num">
                                      <p:cBhvr additive="base">
                                        <p:cTn id="51" dur="500"/>
                                        <p:tgtEl>
                                          <p:spTgt spid="11">
                                            <p:txEl>
                                              <p:pRg st="5" end="5"/>
                                            </p:txEl>
                                          </p:spTgt>
                                        </p:tgtEl>
                                        <p:attrNameLst>
                                          <p:attrName>ppt_x</p:attrName>
                                        </p:attrNameLst>
                                      </p:cBhvr>
                                      <p:tavLst>
                                        <p:tav tm="0">
                                          <p:val>
                                            <p:strVal val="#ppt_x-#ppt_w*1.125000"/>
                                          </p:val>
                                        </p:tav>
                                        <p:tav tm="100000">
                                          <p:val>
                                            <p:strVal val="#ppt_x"/>
                                          </p:val>
                                        </p:tav>
                                      </p:tavLst>
                                    </p:anim>
                                    <p:animEffect transition="in" filter="wipe(right)">
                                      <p:cBhvr>
                                        <p:cTn id="52" dur="500"/>
                                        <p:tgtEl>
                                          <p:spTgt spid="11">
                                            <p:txEl>
                                              <p:pRg st="5" end="5"/>
                                            </p:txEl>
                                          </p:spTgt>
                                        </p:tgtEl>
                                      </p:cBhvr>
                                    </p:animEffect>
                                  </p:childTnLst>
                                </p:cTn>
                              </p:par>
                              <p:par>
                                <p:cTn id="53" presetID="12" presetClass="entr" presetSubtype="8" fill="hold" nodeType="withEffect">
                                  <p:stCondLst>
                                    <p:cond delay="0"/>
                                  </p:stCondLst>
                                  <p:childTnLst>
                                    <p:set>
                                      <p:cBhvr>
                                        <p:cTn id="54" dur="1" fill="hold">
                                          <p:stCondLst>
                                            <p:cond delay="0"/>
                                          </p:stCondLst>
                                        </p:cTn>
                                        <p:tgtEl>
                                          <p:spTgt spid="11">
                                            <p:txEl>
                                              <p:pRg st="6" end="6"/>
                                            </p:txEl>
                                          </p:spTgt>
                                        </p:tgtEl>
                                        <p:attrNameLst>
                                          <p:attrName>style.visibility</p:attrName>
                                        </p:attrNameLst>
                                      </p:cBhvr>
                                      <p:to>
                                        <p:strVal val="visible"/>
                                      </p:to>
                                    </p:set>
                                    <p:anim calcmode="lin" valueType="num">
                                      <p:cBhvr additive="base">
                                        <p:cTn id="55" dur="500"/>
                                        <p:tgtEl>
                                          <p:spTgt spid="11">
                                            <p:txEl>
                                              <p:pRg st="6" end="6"/>
                                            </p:txEl>
                                          </p:spTgt>
                                        </p:tgtEl>
                                        <p:attrNameLst>
                                          <p:attrName>ppt_x</p:attrName>
                                        </p:attrNameLst>
                                      </p:cBhvr>
                                      <p:tavLst>
                                        <p:tav tm="0">
                                          <p:val>
                                            <p:strVal val="#ppt_x-#ppt_w*1.125000"/>
                                          </p:val>
                                        </p:tav>
                                        <p:tav tm="100000">
                                          <p:val>
                                            <p:strVal val="#ppt_x"/>
                                          </p:val>
                                        </p:tav>
                                      </p:tavLst>
                                    </p:anim>
                                    <p:animEffect transition="in" filter="wipe(right)">
                                      <p:cBhvr>
                                        <p:cTn id="56" dur="500"/>
                                        <p:tgtEl>
                                          <p:spTgt spid="11">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12">
                                            <p:txEl>
                                              <p:pRg st="3" end="3"/>
                                            </p:txEl>
                                          </p:spTgt>
                                        </p:tgtEl>
                                        <p:attrNameLst>
                                          <p:attrName>style.visibility</p:attrName>
                                        </p:attrNameLst>
                                      </p:cBhvr>
                                      <p:to>
                                        <p:strVal val="visible"/>
                                      </p:to>
                                    </p:set>
                                    <p:anim calcmode="lin" valueType="num">
                                      <p:cBhvr additive="base">
                                        <p:cTn id="61" dur="500"/>
                                        <p:tgtEl>
                                          <p:spTgt spid="12">
                                            <p:txEl>
                                              <p:pRg st="3" end="3"/>
                                            </p:txEl>
                                          </p:spTgt>
                                        </p:tgtEl>
                                        <p:attrNameLst>
                                          <p:attrName>ppt_x</p:attrName>
                                        </p:attrNameLst>
                                      </p:cBhvr>
                                      <p:tavLst>
                                        <p:tav tm="0">
                                          <p:val>
                                            <p:strVal val="#ppt_x-#ppt_w*1.125000"/>
                                          </p:val>
                                        </p:tav>
                                        <p:tav tm="100000">
                                          <p:val>
                                            <p:strVal val="#ppt_x"/>
                                          </p:val>
                                        </p:tav>
                                      </p:tavLst>
                                    </p:anim>
                                    <p:animEffect transition="in" filter="wipe(right)">
                                      <p:cBhvr>
                                        <p:cTn id="62" dur="500"/>
                                        <p:tgtEl>
                                          <p:spTgt spid="12">
                                            <p:txEl>
                                              <p:pRg st="3" end="3"/>
                                            </p:txEl>
                                          </p:spTgt>
                                        </p:tgtEl>
                                      </p:cBhvr>
                                    </p:animEffect>
                                  </p:childTnLst>
                                </p:cTn>
                              </p:par>
                              <p:par>
                                <p:cTn id="63" presetID="12" presetClass="entr" presetSubtype="8" fill="hold" nodeType="withEffect">
                                  <p:stCondLst>
                                    <p:cond delay="0"/>
                                  </p:stCondLst>
                                  <p:childTnLst>
                                    <p:set>
                                      <p:cBhvr>
                                        <p:cTn id="64" dur="1" fill="hold">
                                          <p:stCondLst>
                                            <p:cond delay="0"/>
                                          </p:stCondLst>
                                        </p:cTn>
                                        <p:tgtEl>
                                          <p:spTgt spid="12">
                                            <p:txEl>
                                              <p:pRg st="4" end="4"/>
                                            </p:txEl>
                                          </p:spTgt>
                                        </p:tgtEl>
                                        <p:attrNameLst>
                                          <p:attrName>style.visibility</p:attrName>
                                        </p:attrNameLst>
                                      </p:cBhvr>
                                      <p:to>
                                        <p:strVal val="visible"/>
                                      </p:to>
                                    </p:set>
                                    <p:anim calcmode="lin" valueType="num">
                                      <p:cBhvr additive="base">
                                        <p:cTn id="65" dur="500"/>
                                        <p:tgtEl>
                                          <p:spTgt spid="12">
                                            <p:txEl>
                                              <p:pRg st="4" end="4"/>
                                            </p:txEl>
                                          </p:spTgt>
                                        </p:tgtEl>
                                        <p:attrNameLst>
                                          <p:attrName>ppt_x</p:attrName>
                                        </p:attrNameLst>
                                      </p:cBhvr>
                                      <p:tavLst>
                                        <p:tav tm="0">
                                          <p:val>
                                            <p:strVal val="#ppt_x-#ppt_w*1.125000"/>
                                          </p:val>
                                        </p:tav>
                                        <p:tav tm="100000">
                                          <p:val>
                                            <p:strVal val="#ppt_x"/>
                                          </p:val>
                                        </p:tav>
                                      </p:tavLst>
                                    </p:anim>
                                    <p:animEffect transition="in" filter="wipe(right)">
                                      <p:cBhvr>
                                        <p:cTn id="66" dur="500"/>
                                        <p:tgtEl>
                                          <p:spTgt spid="12">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8" fill="hold" nodeType="clickEffect">
                                  <p:stCondLst>
                                    <p:cond delay="0"/>
                                  </p:stCondLst>
                                  <p:childTnLst>
                                    <p:set>
                                      <p:cBhvr>
                                        <p:cTn id="70" dur="1" fill="hold">
                                          <p:stCondLst>
                                            <p:cond delay="0"/>
                                          </p:stCondLst>
                                        </p:cTn>
                                        <p:tgtEl>
                                          <p:spTgt spid="11">
                                            <p:txEl>
                                              <p:pRg st="7" end="7"/>
                                            </p:txEl>
                                          </p:spTgt>
                                        </p:tgtEl>
                                        <p:attrNameLst>
                                          <p:attrName>style.visibility</p:attrName>
                                        </p:attrNameLst>
                                      </p:cBhvr>
                                      <p:to>
                                        <p:strVal val="visible"/>
                                      </p:to>
                                    </p:set>
                                    <p:anim calcmode="lin" valueType="num">
                                      <p:cBhvr additive="base">
                                        <p:cTn id="71" dur="500"/>
                                        <p:tgtEl>
                                          <p:spTgt spid="11">
                                            <p:txEl>
                                              <p:pRg st="7" end="7"/>
                                            </p:txEl>
                                          </p:spTgt>
                                        </p:tgtEl>
                                        <p:attrNameLst>
                                          <p:attrName>ppt_x</p:attrName>
                                        </p:attrNameLst>
                                      </p:cBhvr>
                                      <p:tavLst>
                                        <p:tav tm="0">
                                          <p:val>
                                            <p:strVal val="#ppt_x-#ppt_w*1.125000"/>
                                          </p:val>
                                        </p:tav>
                                        <p:tav tm="100000">
                                          <p:val>
                                            <p:strVal val="#ppt_x"/>
                                          </p:val>
                                        </p:tav>
                                      </p:tavLst>
                                    </p:anim>
                                    <p:animEffect transition="in" filter="wipe(right)">
                                      <p:cBhvr>
                                        <p:cTn id="72"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9A85-8499-4DE0-5D9C-1AE15F2AB3F4}"/>
              </a:ext>
            </a:extLst>
          </p:cNvPr>
          <p:cNvSpPr>
            <a:spLocks noGrp="1"/>
          </p:cNvSpPr>
          <p:nvPr>
            <p:ph type="title"/>
          </p:nvPr>
        </p:nvSpPr>
        <p:spPr>
          <a:xfrm>
            <a:off x="628650" y="421643"/>
            <a:ext cx="7886700" cy="1325563"/>
          </a:xfrm>
        </p:spPr>
        <p:txBody>
          <a:bodyPr/>
          <a:lstStyle/>
          <a:p>
            <a:r>
              <a:rPr lang="es-ES_tradnl" noProof="1"/>
              <a:t>Puntos clave</a:t>
            </a:r>
          </a:p>
        </p:txBody>
      </p:sp>
      <p:pic>
        <p:nvPicPr>
          <p:cNvPr id="21" name="Graphic 20" descr="User with solid fill">
            <a:extLst>
              <a:ext uri="{FF2B5EF4-FFF2-40B4-BE49-F238E27FC236}">
                <a16:creationId xmlns:a16="http://schemas.microsoft.com/office/drawing/2014/main" id="{2988C789-F60A-E1A4-06FC-8556F16000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6076" y="1448669"/>
            <a:ext cx="1072109" cy="1072109"/>
          </a:xfrm>
          <a:prstGeom prst="rect">
            <a:avLst/>
          </a:prstGeom>
        </p:spPr>
      </p:pic>
      <p:sp>
        <p:nvSpPr>
          <p:cNvPr id="27" name="Oval 26">
            <a:extLst>
              <a:ext uri="{FF2B5EF4-FFF2-40B4-BE49-F238E27FC236}">
                <a16:creationId xmlns:a16="http://schemas.microsoft.com/office/drawing/2014/main" id="{BA3912D5-7016-8975-B81B-A5E90825A640}"/>
              </a:ext>
            </a:extLst>
          </p:cNvPr>
          <p:cNvSpPr/>
          <p:nvPr/>
        </p:nvSpPr>
        <p:spPr>
          <a:xfrm>
            <a:off x="1199507" y="2520778"/>
            <a:ext cx="0" cy="182880"/>
          </a:xfrm>
          <a:prstGeom prst="ellipse">
            <a:avLst/>
          </a:prstGeom>
          <a:solidFill>
            <a:schemeClr val="tx2"/>
          </a:solidFill>
          <a:ln>
            <a:noFill/>
          </a:ln>
        </p:spPr>
        <p:txBody>
          <a:bodyPr wrap="square" rtlCol="0" anchor="ctr">
            <a:spAutoFit/>
          </a:bodyPr>
          <a:lstStyle/>
          <a:p>
            <a:pPr algn="ctr"/>
            <a:endParaRPr lang="es-ES_tradnl" sz="2000" noProof="1">
              <a:solidFill>
                <a:srgbClr val="716557"/>
              </a:solidFill>
              <a:latin typeface="Arial" panose="020B0604020202020204" pitchFamily="34" charset="0"/>
              <a:cs typeface="Arial" panose="020B0604020202020204" pitchFamily="34" charset="0"/>
            </a:endParaRPr>
          </a:p>
        </p:txBody>
      </p:sp>
      <p:pic>
        <p:nvPicPr>
          <p:cNvPr id="4" name="Graphic 3" descr="Clipboard outline">
            <a:extLst>
              <a:ext uri="{FF2B5EF4-FFF2-40B4-BE49-F238E27FC236}">
                <a16:creationId xmlns:a16="http://schemas.microsoft.com/office/drawing/2014/main" id="{AA70F305-055B-7274-54AB-69A9D07499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0204" y="1620479"/>
            <a:ext cx="457200" cy="457200"/>
          </a:xfrm>
          <a:prstGeom prst="rect">
            <a:avLst/>
          </a:prstGeom>
        </p:spPr>
      </p:pic>
      <p:sp>
        <p:nvSpPr>
          <p:cNvPr id="85" name="TextBox 84">
            <a:extLst>
              <a:ext uri="{FF2B5EF4-FFF2-40B4-BE49-F238E27FC236}">
                <a16:creationId xmlns:a16="http://schemas.microsoft.com/office/drawing/2014/main" id="{10028EA5-2B09-686C-4656-96C253555FD7}"/>
              </a:ext>
            </a:extLst>
          </p:cNvPr>
          <p:cNvSpPr txBox="1"/>
          <p:nvPr/>
        </p:nvSpPr>
        <p:spPr>
          <a:xfrm>
            <a:off x="2296788" y="1019364"/>
            <a:ext cx="6433581" cy="5190523"/>
          </a:xfrm>
          <a:prstGeom prst="rect">
            <a:avLst/>
          </a:prstGeom>
          <a:noFill/>
        </p:spPr>
        <p:txBody>
          <a:bodyPr wrap="square" rtlCol="0">
            <a:spAutoFit/>
          </a:bodyPr>
          <a:lstStyle/>
          <a:p>
            <a:pPr marL="457200" indent="-457200">
              <a:lnSpc>
                <a:spcPct val="150000"/>
              </a:lnSpc>
              <a:spcBef>
                <a:spcPts val="600"/>
              </a:spcBef>
              <a:buFont typeface="+mj-lt"/>
              <a:buAutoNum type="arabicPeriod"/>
            </a:pPr>
            <a:r>
              <a:rPr lang="es-ES_tradnl" sz="2000" noProof="1">
                <a:solidFill>
                  <a:schemeClr val="accent2"/>
                </a:solidFill>
              </a:rPr>
              <a:t>Revisar la traducción, no los revisores
No editar, ¿Por qué?
Cada pregunta tiene una referencia de versículo
Respuesta basadas en la traducción
Las preguntas "¿Qué cree?" piden información implícita
Límite de 5 minutos de discusión por pregunta
No se repasan todos los pasajes del Nuevo Testamento
Escuchar todo el pasaje primero</a:t>
            </a:r>
          </a:p>
        </p:txBody>
      </p:sp>
      <p:pic>
        <p:nvPicPr>
          <p:cNvPr id="3" name="Graphic 2" descr="User with solid fill">
            <a:extLst>
              <a:ext uri="{FF2B5EF4-FFF2-40B4-BE49-F238E27FC236}">
                <a16:creationId xmlns:a16="http://schemas.microsoft.com/office/drawing/2014/main" id="{4F1B09C5-2E10-A93F-2C83-9C68586216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7960" y="4503315"/>
            <a:ext cx="1072109" cy="1072109"/>
          </a:xfrm>
          <a:prstGeom prst="rect">
            <a:avLst/>
          </a:prstGeom>
        </p:spPr>
      </p:pic>
      <p:pic>
        <p:nvPicPr>
          <p:cNvPr id="5" name="Graphic 4" descr="User with solid fill">
            <a:extLst>
              <a:ext uri="{FF2B5EF4-FFF2-40B4-BE49-F238E27FC236}">
                <a16:creationId xmlns:a16="http://schemas.microsoft.com/office/drawing/2014/main" id="{D16CF2D8-D98E-8C67-C097-33D0BD47ED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2804" y="4503315"/>
            <a:ext cx="1072109" cy="1072109"/>
          </a:xfrm>
          <a:prstGeom prst="rect">
            <a:avLst/>
          </a:prstGeom>
        </p:spPr>
      </p:pic>
      <p:pic>
        <p:nvPicPr>
          <p:cNvPr id="6" name="Graphic 5" descr="User with solid fill">
            <a:extLst>
              <a:ext uri="{FF2B5EF4-FFF2-40B4-BE49-F238E27FC236}">
                <a16:creationId xmlns:a16="http://schemas.microsoft.com/office/drawing/2014/main" id="{E1DA0178-29FD-2596-31B8-44F28FE04CE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16150" y="5554272"/>
            <a:ext cx="1072109" cy="1072109"/>
          </a:xfrm>
          <a:prstGeom prst="rect">
            <a:avLst/>
          </a:prstGeom>
        </p:spPr>
      </p:pic>
      <p:pic>
        <p:nvPicPr>
          <p:cNvPr id="7" name="Graphic 6" descr="User with solid fill">
            <a:extLst>
              <a:ext uri="{FF2B5EF4-FFF2-40B4-BE49-F238E27FC236}">
                <a16:creationId xmlns:a16="http://schemas.microsoft.com/office/drawing/2014/main" id="{27E134E1-25DA-D804-8390-3106BE88F44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431" y="5554273"/>
            <a:ext cx="1072109" cy="1072109"/>
          </a:xfrm>
          <a:prstGeom prst="rect">
            <a:avLst/>
          </a:prstGeom>
        </p:spPr>
      </p:pic>
      <p:pic>
        <p:nvPicPr>
          <p:cNvPr id="16" name="Graphic 15" descr="Open book outline">
            <a:extLst>
              <a:ext uri="{FF2B5EF4-FFF2-40B4-BE49-F238E27FC236}">
                <a16:creationId xmlns:a16="http://schemas.microsoft.com/office/drawing/2014/main" id="{65ED2350-0BBE-2EBC-EC69-667FE4F7579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8926" y="3090157"/>
            <a:ext cx="914400" cy="914400"/>
          </a:xfrm>
          <a:prstGeom prst="rect">
            <a:avLst/>
          </a:prstGeom>
        </p:spPr>
      </p:pic>
    </p:spTree>
    <p:extLst>
      <p:ext uri="{BB962C8B-B14F-4D97-AF65-F5344CB8AC3E}">
        <p14:creationId xmlns:p14="http://schemas.microsoft.com/office/powerpoint/2010/main" val="305067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anim calcmode="lin" valueType="num">
                                      <p:cBhvr additive="base">
                                        <p:cTn id="7" dur="500" fill="hold"/>
                                        <p:tgtEl>
                                          <p:spTgt spid="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239F4-61C6-5247-78E9-D850D42B0084}"/>
              </a:ext>
            </a:extLst>
          </p:cNvPr>
          <p:cNvSpPr>
            <a:spLocks noGrp="1"/>
          </p:cNvSpPr>
          <p:nvPr>
            <p:ph type="title"/>
          </p:nvPr>
        </p:nvSpPr>
        <p:spPr>
          <a:xfrm>
            <a:off x="628650" y="386512"/>
            <a:ext cx="7886700" cy="585761"/>
          </a:xfrm>
        </p:spPr>
        <p:txBody>
          <a:bodyPr/>
          <a:lstStyle/>
          <a:p>
            <a:r>
              <a:rPr lang="es-ES_tradnl" noProof="1"/>
              <a:t>Un Ejemplo</a:t>
            </a:r>
          </a:p>
        </p:txBody>
      </p:sp>
      <p:sp>
        <p:nvSpPr>
          <p:cNvPr id="3" name="TextBox 2">
            <a:extLst>
              <a:ext uri="{FF2B5EF4-FFF2-40B4-BE49-F238E27FC236}">
                <a16:creationId xmlns:a16="http://schemas.microsoft.com/office/drawing/2014/main" id="{188E49DB-AF9A-2283-FD51-A1D8432369CE}"/>
              </a:ext>
            </a:extLst>
          </p:cNvPr>
          <p:cNvSpPr txBox="1"/>
          <p:nvPr/>
        </p:nvSpPr>
        <p:spPr>
          <a:xfrm>
            <a:off x="628650" y="1155014"/>
            <a:ext cx="7797720" cy="1734899"/>
          </a:xfrm>
          <a:prstGeom prst="rect">
            <a:avLst/>
          </a:prstGeom>
          <a:noFill/>
        </p:spPr>
        <p:txBody>
          <a:bodyPr wrap="square" rtlCol="0">
            <a:spAutoFit/>
          </a:bodyPr>
          <a:lstStyle/>
          <a:p>
            <a:pPr marL="0" marR="0">
              <a:lnSpc>
                <a:spcPct val="115000"/>
              </a:lnSpc>
              <a:spcBef>
                <a:spcPts val="2000"/>
              </a:spcBef>
              <a:spcAft>
                <a:spcPts val="600"/>
              </a:spcAft>
              <a:buNone/>
            </a:pPr>
            <a:r>
              <a:rPr lang="es-ES_tradnl" sz="1800" b="1" kern="0" noProof="1">
                <a:effectLst/>
                <a:latin typeface="Arial" panose="020B0604020202020204" pitchFamily="34" charset="0"/>
                <a:ea typeface="Arial" panose="020B0604020202020204" pitchFamily="34" charset="0"/>
              </a:rPr>
              <a:t>Mateo 3:13-17</a:t>
            </a:r>
          </a:p>
          <a:p>
            <a:pPr marL="0" marR="0">
              <a:lnSpc>
                <a:spcPct val="115000"/>
              </a:lnSpc>
              <a:spcAft>
                <a:spcPts val="1200"/>
              </a:spcAft>
            </a:pPr>
            <a:r>
              <a:rPr lang="es-ES_tradnl" sz="1800" b="1" noProof="1">
                <a:effectLst/>
                <a:latin typeface="Arial" panose="020B0604020202020204" pitchFamily="34" charset="0"/>
                <a:ea typeface="Arial" panose="020B0604020202020204" pitchFamily="34" charset="0"/>
              </a:rPr>
              <a:t>Trasfondo:</a:t>
            </a:r>
            <a:r>
              <a:rPr lang="es-ES_tradnl" sz="1800" noProof="1">
                <a:effectLst/>
                <a:latin typeface="Arial" panose="020B0604020202020204" pitchFamily="34" charset="0"/>
                <a:ea typeface="Arial" panose="020B0604020202020204" pitchFamily="34" charset="0"/>
              </a:rPr>
              <a:t> Después de que Jesús creció, Juan el Bautista fue al desierto y predicó que las personas debían dejar de pecar y ser bautizadas. Juan también enseñó que vendría alguien más poderoso que él, y que esa persona juzgaría a las personas.</a:t>
            </a:r>
          </a:p>
        </p:txBody>
      </p:sp>
      <p:sp>
        <p:nvSpPr>
          <p:cNvPr id="5" name="TextBox 4">
            <a:extLst>
              <a:ext uri="{FF2B5EF4-FFF2-40B4-BE49-F238E27FC236}">
                <a16:creationId xmlns:a16="http://schemas.microsoft.com/office/drawing/2014/main" id="{FDB22AE6-B0FF-DD63-76F9-5337C512A694}"/>
              </a:ext>
            </a:extLst>
          </p:cNvPr>
          <p:cNvSpPr txBox="1"/>
          <p:nvPr/>
        </p:nvSpPr>
        <p:spPr>
          <a:xfrm>
            <a:off x="717630" y="2968432"/>
            <a:ext cx="4247907" cy="369332"/>
          </a:xfrm>
          <a:prstGeom prst="rect">
            <a:avLst/>
          </a:prstGeom>
          <a:noFill/>
        </p:spPr>
        <p:txBody>
          <a:bodyPr wrap="square" rtlCol="0">
            <a:spAutoFit/>
          </a:bodyPr>
          <a:lstStyle/>
          <a:p>
            <a:r>
              <a:rPr lang="es-ES_tradnl" sz="1800" b="1" i="1" noProof="1">
                <a:effectLst/>
                <a:latin typeface="Arial" panose="020B0604020202020204" pitchFamily="34" charset="0"/>
                <a:ea typeface="Arial" panose="020B0604020202020204" pitchFamily="34" charset="0"/>
              </a:rPr>
              <a:t>Lea el pasaje.</a:t>
            </a:r>
            <a:endParaRPr lang="es-ES_tradnl" sz="1800" noProof="1">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61188FB1-1729-8A3B-BAE4-0E665116CD12}"/>
              </a:ext>
            </a:extLst>
          </p:cNvPr>
          <p:cNvSpPr txBox="1"/>
          <p:nvPr/>
        </p:nvSpPr>
        <p:spPr>
          <a:xfrm>
            <a:off x="717630" y="3429000"/>
            <a:ext cx="7886700" cy="871970"/>
          </a:xfrm>
          <a:prstGeom prst="rect">
            <a:avLst/>
          </a:prstGeom>
          <a:noFill/>
        </p:spPr>
        <p:txBody>
          <a:bodyPr wrap="square" rtlCol="0">
            <a:spAutoFit/>
          </a:bodyPr>
          <a:lstStyle/>
          <a:p>
            <a:pPr marL="0" marR="0">
              <a:lnSpc>
                <a:spcPct val="150000"/>
              </a:lnSpc>
              <a:buNone/>
            </a:pPr>
            <a:r>
              <a:rPr lang="es-ES_tradnl" sz="1800" b="1" noProof="1">
                <a:effectLst/>
                <a:latin typeface="Arial" panose="020B0604020202020204" pitchFamily="34" charset="0"/>
                <a:ea typeface="Arial" panose="020B0604020202020204" pitchFamily="34" charset="0"/>
              </a:rPr>
              <a:t>Parte 1</a:t>
            </a:r>
          </a:p>
          <a:p>
            <a:pPr marL="0" marR="0">
              <a:lnSpc>
                <a:spcPct val="150000"/>
              </a:lnSpc>
              <a:spcAft>
                <a:spcPts val="400"/>
              </a:spcAft>
            </a:pPr>
            <a:r>
              <a:rPr lang="es-ES_tradnl" sz="1800" noProof="1">
                <a:effectLst/>
                <a:latin typeface="Arial" panose="020B0604020202020204" pitchFamily="34" charset="0"/>
                <a:ea typeface="Arial" panose="020B0604020202020204" pitchFamily="34" charset="0"/>
              </a:rPr>
              <a:t>Diga en sus propias palabras lo que acaba de leer en este pasaje.</a:t>
            </a:r>
          </a:p>
        </p:txBody>
      </p:sp>
      <p:sp>
        <p:nvSpPr>
          <p:cNvPr id="7" name="TextBox 6">
            <a:extLst>
              <a:ext uri="{FF2B5EF4-FFF2-40B4-BE49-F238E27FC236}">
                <a16:creationId xmlns:a16="http://schemas.microsoft.com/office/drawing/2014/main" id="{52896F03-7C7D-C849-BFFA-FD15E5F60D8F}"/>
              </a:ext>
            </a:extLst>
          </p:cNvPr>
          <p:cNvSpPr txBox="1"/>
          <p:nvPr/>
        </p:nvSpPr>
        <p:spPr>
          <a:xfrm>
            <a:off x="673140" y="4392206"/>
            <a:ext cx="7797720" cy="2295052"/>
          </a:xfrm>
          <a:prstGeom prst="rect">
            <a:avLst/>
          </a:prstGeom>
          <a:noFill/>
        </p:spPr>
        <p:txBody>
          <a:bodyPr wrap="square" rtlCol="0">
            <a:spAutoFit/>
          </a:bodyPr>
          <a:lstStyle/>
          <a:p>
            <a:pPr marL="342900" marR="0" lvl="0" indent="-342900">
              <a:lnSpc>
                <a:spcPct val="115000"/>
              </a:lnSpc>
              <a:buFont typeface="Arial" panose="020B0604020202020204" pitchFamily="34" charset="0"/>
              <a:buChar char="☐"/>
            </a:pPr>
            <a:r>
              <a:rPr lang="es-ES_tradnl" sz="1800" u="none" strike="noStrike" noProof="1">
                <a:effectLst/>
                <a:latin typeface="Arial" panose="020B0604020202020204" pitchFamily="34" charset="0"/>
                <a:ea typeface="Arial" panose="020B0604020202020204" pitchFamily="34" charset="0"/>
              </a:rPr>
              <a:t>Jesús vino al río Jordán para ser bautizado por Juan. [3:13]</a:t>
            </a:r>
          </a:p>
          <a:p>
            <a:pPr marL="342900" marR="0" lvl="0" indent="-342900">
              <a:lnSpc>
                <a:spcPct val="115000"/>
              </a:lnSpc>
              <a:buFont typeface="Arial" panose="020B0604020202020204" pitchFamily="34" charset="0"/>
              <a:buChar char="☐"/>
            </a:pPr>
            <a:r>
              <a:rPr lang="es-ES_tradnl" sz="1800" u="none" strike="noStrike" noProof="1">
                <a:effectLst/>
                <a:latin typeface="Arial" panose="020B0604020202020204" pitchFamily="34" charset="0"/>
                <a:ea typeface="Arial" panose="020B0604020202020204" pitchFamily="34" charset="0"/>
              </a:rPr>
              <a:t>Juan trató de detener a Jesús, pero Jesús dijo que era necesario que Juan lo bautizara. [3:14-15]</a:t>
            </a:r>
          </a:p>
          <a:p>
            <a:pPr marL="342900" marR="0" lvl="0" indent="-342900">
              <a:lnSpc>
                <a:spcPct val="115000"/>
              </a:lnSpc>
              <a:buFont typeface="Arial" panose="020B0604020202020204" pitchFamily="34" charset="0"/>
              <a:buChar char="☐"/>
            </a:pPr>
            <a:r>
              <a:rPr lang="es-ES_tradnl" sz="1800" u="none" strike="noStrike" noProof="1">
                <a:effectLst/>
                <a:latin typeface="Arial" panose="020B0604020202020204" pitchFamily="34" charset="0"/>
                <a:ea typeface="Arial" panose="020B0604020202020204" pitchFamily="34" charset="0"/>
              </a:rPr>
              <a:t>Después que Juan bautizó a Jesús, el Espíritu de Dios descendió como una paloma y se posó sobre Jesús. [3:16]</a:t>
            </a:r>
          </a:p>
          <a:p>
            <a:pPr marL="342900" marR="0" lvl="0" indent="-342900">
              <a:lnSpc>
                <a:spcPct val="115000"/>
              </a:lnSpc>
              <a:buFont typeface="Arial" panose="020B0604020202020204" pitchFamily="34" charset="0"/>
              <a:buChar char="☐"/>
            </a:pPr>
            <a:r>
              <a:rPr lang="es-ES_tradnl" sz="1800" u="none" strike="noStrike" noProof="1">
                <a:effectLst/>
                <a:latin typeface="Arial" panose="020B0604020202020204" pitchFamily="34" charset="0"/>
                <a:ea typeface="Arial" panose="020B0604020202020204" pitchFamily="34" charset="0"/>
              </a:rPr>
              <a:t>Una voz del cielo dijo: "Este es mi Hijo amado. Estoy muy contento con él". [3:17]</a:t>
            </a:r>
          </a:p>
        </p:txBody>
      </p:sp>
    </p:spTree>
    <p:extLst>
      <p:ext uri="{BB962C8B-B14F-4D97-AF65-F5344CB8AC3E}">
        <p14:creationId xmlns:p14="http://schemas.microsoft.com/office/powerpoint/2010/main" val="251646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40186-3BFF-C36F-C32A-23D3EB36BF3D}"/>
              </a:ext>
            </a:extLst>
          </p:cNvPr>
          <p:cNvSpPr>
            <a:spLocks noGrp="1"/>
          </p:cNvSpPr>
          <p:nvPr>
            <p:ph type="title"/>
          </p:nvPr>
        </p:nvSpPr>
        <p:spPr>
          <a:xfrm>
            <a:off x="628650" y="386513"/>
            <a:ext cx="7886700" cy="655210"/>
          </a:xfrm>
        </p:spPr>
        <p:txBody>
          <a:bodyPr/>
          <a:lstStyle/>
          <a:p>
            <a:r>
              <a:rPr lang="es-ES_tradnl" noProof="1"/>
              <a:t>contiuación</a:t>
            </a:r>
          </a:p>
        </p:txBody>
      </p:sp>
      <p:sp>
        <p:nvSpPr>
          <p:cNvPr id="3" name="TextBox 2">
            <a:extLst>
              <a:ext uri="{FF2B5EF4-FFF2-40B4-BE49-F238E27FC236}">
                <a16:creationId xmlns:a16="http://schemas.microsoft.com/office/drawing/2014/main" id="{68CB6945-1D05-CEA8-7D00-A55A283CED92}"/>
              </a:ext>
            </a:extLst>
          </p:cNvPr>
          <p:cNvSpPr txBox="1"/>
          <p:nvPr/>
        </p:nvSpPr>
        <p:spPr>
          <a:xfrm>
            <a:off x="628650" y="1030150"/>
            <a:ext cx="8021255" cy="871970"/>
          </a:xfrm>
          <a:prstGeom prst="rect">
            <a:avLst/>
          </a:prstGeom>
          <a:noFill/>
        </p:spPr>
        <p:txBody>
          <a:bodyPr wrap="square" rtlCol="0">
            <a:spAutoFit/>
          </a:bodyPr>
          <a:lstStyle/>
          <a:p>
            <a:pPr marL="0" marR="0">
              <a:lnSpc>
                <a:spcPct val="150000"/>
              </a:lnSpc>
              <a:spcBef>
                <a:spcPts val="1200"/>
              </a:spcBef>
              <a:buNone/>
            </a:pPr>
            <a:r>
              <a:rPr lang="es-MX" sz="1800" b="1" dirty="0">
                <a:effectLst/>
                <a:latin typeface="Arial" panose="020B0604020202020204" pitchFamily="34" charset="0"/>
                <a:ea typeface="Arial" panose="020B0604020202020204" pitchFamily="34" charset="0"/>
              </a:rPr>
              <a:t>Parte 2</a:t>
            </a:r>
            <a:endParaRPr lang="en-US" sz="1800" dirty="0">
              <a:effectLst/>
              <a:latin typeface="Arial" panose="020B0604020202020204" pitchFamily="34" charset="0"/>
              <a:ea typeface="Arial" panose="020B0604020202020204" pitchFamily="34" charset="0"/>
            </a:endParaRPr>
          </a:p>
          <a:p>
            <a:pPr marL="0" marR="0">
              <a:lnSpc>
                <a:spcPct val="150000"/>
              </a:lnSpc>
              <a:spcAft>
                <a:spcPts val="400"/>
              </a:spcAft>
            </a:pPr>
            <a:r>
              <a:rPr lang="es-PR" sz="1800" dirty="0">
                <a:effectLst/>
                <a:latin typeface="Arial" panose="020B0604020202020204" pitchFamily="34" charset="0"/>
                <a:ea typeface="Arial" panose="020B0604020202020204" pitchFamily="34" charset="0"/>
              </a:rPr>
              <a:t>Responda las siguientes preguntas de los versículos señalados.</a:t>
            </a:r>
            <a:endParaRPr lang="en-US" sz="1800" dirty="0">
              <a:effectLst/>
              <a:latin typeface="Arial" panose="020B0604020202020204" pitchFamily="34" charset="0"/>
              <a:ea typeface="Arial" panose="020B0604020202020204" pitchFamily="34" charset="0"/>
            </a:endParaRPr>
          </a:p>
        </p:txBody>
      </p:sp>
      <p:sp>
        <p:nvSpPr>
          <p:cNvPr id="4" name="TextBox 3">
            <a:extLst>
              <a:ext uri="{FF2B5EF4-FFF2-40B4-BE49-F238E27FC236}">
                <a16:creationId xmlns:a16="http://schemas.microsoft.com/office/drawing/2014/main" id="{D9D3CDAD-0EFB-ED30-5AE8-97C203187E0E}"/>
              </a:ext>
            </a:extLst>
          </p:cNvPr>
          <p:cNvSpPr txBox="1"/>
          <p:nvPr/>
        </p:nvSpPr>
        <p:spPr>
          <a:xfrm>
            <a:off x="628650" y="1902120"/>
            <a:ext cx="7600950" cy="702308"/>
          </a:xfrm>
          <a:prstGeom prst="rect">
            <a:avLst/>
          </a:prstGeom>
          <a:noFill/>
        </p:spPr>
        <p:txBody>
          <a:bodyPr wrap="square" rtlCol="0">
            <a:spAutoFit/>
          </a:bodyPr>
          <a:lstStyle/>
          <a:p>
            <a:pPr marL="342900" marR="0" lvl="0" indent="-342900">
              <a:lnSpc>
                <a:spcPct val="115000"/>
              </a:lnSpc>
              <a:buFont typeface="+mj-lt"/>
              <a:buAutoNum type="arabicPeriod"/>
            </a:pPr>
            <a:r>
              <a:rPr lang="es-PR" sz="1800" dirty="0">
                <a:effectLst/>
                <a:latin typeface="Arial" panose="020B0604020202020204" pitchFamily="34" charset="0"/>
                <a:ea typeface="Arial" panose="020B0604020202020204" pitchFamily="34" charset="0"/>
              </a:rPr>
              <a:t>[3:14] Cuando Jesús vino a ser bautizado, ¿Qué le dijo Juan a Jesús? </a:t>
            </a:r>
            <a:endParaRPr lang="en-US" sz="1800" dirty="0">
              <a:effectLst/>
              <a:latin typeface="Arial" panose="020B0604020202020204" pitchFamily="34" charset="0"/>
              <a:ea typeface="Arial" panose="020B0604020202020204" pitchFamily="34" charset="0"/>
            </a:endParaRPr>
          </a:p>
        </p:txBody>
      </p:sp>
      <p:sp>
        <p:nvSpPr>
          <p:cNvPr id="5" name="TextBox 4">
            <a:extLst>
              <a:ext uri="{FF2B5EF4-FFF2-40B4-BE49-F238E27FC236}">
                <a16:creationId xmlns:a16="http://schemas.microsoft.com/office/drawing/2014/main" id="{7B8E4948-D4A6-6489-B6CF-5284487686E2}"/>
              </a:ext>
            </a:extLst>
          </p:cNvPr>
          <p:cNvSpPr txBox="1"/>
          <p:nvPr/>
        </p:nvSpPr>
        <p:spPr>
          <a:xfrm>
            <a:off x="914400" y="2604552"/>
            <a:ext cx="6585995" cy="369332"/>
          </a:xfrm>
          <a:prstGeom prst="rect">
            <a:avLst/>
          </a:prstGeom>
          <a:noFill/>
        </p:spPr>
        <p:txBody>
          <a:bodyPr wrap="square" rtlCol="0">
            <a:spAutoFit/>
          </a:bodyPr>
          <a:lstStyle/>
          <a:p>
            <a:r>
              <a:rPr lang="es-PR" sz="1800" dirty="0">
                <a:effectLst/>
                <a:latin typeface="Arial" panose="020B0604020202020204" pitchFamily="34" charset="0"/>
                <a:ea typeface="Arial" panose="020B0604020202020204" pitchFamily="34" charset="0"/>
              </a:rPr>
              <a:t> Juan le dijo a Jesús que necesitaba ser bautizado por Jesús.</a:t>
            </a:r>
            <a:endParaRPr lang="en-US" sz="1800" dirty="0">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1466AB6-4D9A-E561-0BC6-825EABD9276B}"/>
              </a:ext>
            </a:extLst>
          </p:cNvPr>
          <p:cNvSpPr txBox="1"/>
          <p:nvPr/>
        </p:nvSpPr>
        <p:spPr>
          <a:xfrm>
            <a:off x="673139" y="3212573"/>
            <a:ext cx="7068515" cy="702308"/>
          </a:xfrm>
          <a:prstGeom prst="rect">
            <a:avLst/>
          </a:prstGeom>
          <a:noFill/>
        </p:spPr>
        <p:txBody>
          <a:bodyPr wrap="square" rtlCol="0">
            <a:spAutoFit/>
          </a:bodyPr>
          <a:lstStyle/>
          <a:p>
            <a:pPr marL="342900" marR="0" lvl="0" indent="-342900">
              <a:lnSpc>
                <a:spcPct val="115000"/>
              </a:lnSpc>
              <a:buFont typeface="+mj-lt"/>
              <a:buAutoNum type="arabicPeriod" startAt="2"/>
            </a:pPr>
            <a:r>
              <a:rPr lang="es-PR" sz="1800" dirty="0">
                <a:effectLst/>
                <a:latin typeface="Arial" panose="020B0604020202020204" pitchFamily="34" charset="0"/>
                <a:ea typeface="Arial" panose="020B0604020202020204" pitchFamily="34" charset="0"/>
              </a:rPr>
              <a:t>[3:15] ¿Cuál fue la razón por la que Jesús dijo que Juan debía bautizarlo? </a:t>
            </a:r>
            <a:endParaRPr lang="en-US" sz="1800" dirty="0">
              <a:effectLst/>
              <a:latin typeface="Arial" panose="020B0604020202020204" pitchFamily="34" charset="0"/>
              <a:ea typeface="Arial" panose="020B0604020202020204" pitchFamily="34" charset="0"/>
            </a:endParaRPr>
          </a:p>
        </p:txBody>
      </p:sp>
      <p:sp>
        <p:nvSpPr>
          <p:cNvPr id="7" name="TextBox 6">
            <a:extLst>
              <a:ext uri="{FF2B5EF4-FFF2-40B4-BE49-F238E27FC236}">
                <a16:creationId xmlns:a16="http://schemas.microsoft.com/office/drawing/2014/main" id="{748219E8-0C62-5BA8-5486-E34A3EC0AE65}"/>
              </a:ext>
            </a:extLst>
          </p:cNvPr>
          <p:cNvSpPr txBox="1"/>
          <p:nvPr/>
        </p:nvSpPr>
        <p:spPr>
          <a:xfrm>
            <a:off x="1035932" y="3933183"/>
            <a:ext cx="6342927" cy="369332"/>
          </a:xfrm>
          <a:prstGeom prst="rect">
            <a:avLst/>
          </a:prstGeom>
          <a:noFill/>
        </p:spPr>
        <p:txBody>
          <a:bodyPr wrap="square" rtlCol="0">
            <a:spAutoFit/>
          </a:bodyPr>
          <a:lstStyle/>
          <a:p>
            <a:r>
              <a:rPr lang="es-PR" sz="1800" dirty="0">
                <a:effectLst/>
                <a:latin typeface="Arial" panose="020B0604020202020204" pitchFamily="34" charset="0"/>
                <a:ea typeface="Arial" panose="020B0604020202020204" pitchFamily="34" charset="0"/>
              </a:rPr>
              <a:t>Era justo que cumplieran toda justicia.</a:t>
            </a:r>
            <a:endParaRPr lang="en-US" sz="1800" dirty="0">
              <a:effectLst/>
              <a:latin typeface="Arial" panose="020B0604020202020204" pitchFamily="34" charset="0"/>
              <a:ea typeface="Arial" panose="020B0604020202020204" pitchFamily="34" charset="0"/>
            </a:endParaRPr>
          </a:p>
        </p:txBody>
      </p:sp>
      <p:sp>
        <p:nvSpPr>
          <p:cNvPr id="9" name="TextBox 8">
            <a:extLst>
              <a:ext uri="{FF2B5EF4-FFF2-40B4-BE49-F238E27FC236}">
                <a16:creationId xmlns:a16="http://schemas.microsoft.com/office/drawing/2014/main" id="{745D36BC-11F5-DCCA-C5C9-40F910D8360C}"/>
              </a:ext>
            </a:extLst>
          </p:cNvPr>
          <p:cNvSpPr txBox="1"/>
          <p:nvPr/>
        </p:nvSpPr>
        <p:spPr>
          <a:xfrm>
            <a:off x="673139" y="4117849"/>
            <a:ext cx="8087087" cy="702308"/>
          </a:xfrm>
          <a:prstGeom prst="rect">
            <a:avLst/>
          </a:prstGeom>
          <a:noFill/>
        </p:spPr>
        <p:txBody>
          <a:bodyPr wrap="square" rtlCol="0">
            <a:spAutoFit/>
          </a:bodyPr>
          <a:lstStyle/>
          <a:p>
            <a:pPr marL="0" marR="0">
              <a:lnSpc>
                <a:spcPct val="115000"/>
              </a:lnSpc>
              <a:buNone/>
            </a:pPr>
            <a:r>
              <a:rPr lang="es-PR" sz="1800" dirty="0">
                <a:effectLst/>
                <a:latin typeface="Arial" panose="020B0604020202020204" pitchFamily="34" charset="0"/>
                <a:ea typeface="Arial" panose="020B0604020202020204" pitchFamily="34" charset="0"/>
              </a:rPr>
              <a:t> </a:t>
            </a:r>
            <a:endParaRPr lang="en-US" sz="1800" dirty="0">
              <a:effectLst/>
              <a:latin typeface="Arial" panose="020B0604020202020204" pitchFamily="34" charset="0"/>
              <a:ea typeface="Arial" panose="020B0604020202020204" pitchFamily="34" charset="0"/>
            </a:endParaRPr>
          </a:p>
          <a:p>
            <a:pPr marL="342900" marR="0" lvl="0" indent="-342900">
              <a:lnSpc>
                <a:spcPct val="115000"/>
              </a:lnSpc>
              <a:buFont typeface="+mj-lt"/>
              <a:buAutoNum type="arabicPeriod" startAt="3"/>
            </a:pPr>
            <a:r>
              <a:rPr lang="es-PR" sz="1800" dirty="0">
                <a:effectLst/>
                <a:latin typeface="Arial" panose="020B0604020202020204" pitchFamily="34" charset="0"/>
                <a:ea typeface="Arial" panose="020B0604020202020204" pitchFamily="34" charset="0"/>
              </a:rPr>
              <a:t>[3:16] ¿Qué hizo el Espíritu de Dios cuando Jesús salió del agua? </a:t>
            </a:r>
            <a:endParaRPr lang="en-US" sz="1800" dirty="0">
              <a:effectLst/>
              <a:latin typeface="Arial" panose="020B0604020202020204" pitchFamily="34" charset="0"/>
              <a:ea typeface="Arial" panose="020B0604020202020204" pitchFamily="34" charset="0"/>
            </a:endParaRPr>
          </a:p>
        </p:txBody>
      </p:sp>
      <p:sp>
        <p:nvSpPr>
          <p:cNvPr id="10" name="TextBox 9">
            <a:extLst>
              <a:ext uri="{FF2B5EF4-FFF2-40B4-BE49-F238E27FC236}">
                <a16:creationId xmlns:a16="http://schemas.microsoft.com/office/drawing/2014/main" id="{6F526F18-8982-8E75-059E-ABAE2848EFDF}"/>
              </a:ext>
            </a:extLst>
          </p:cNvPr>
          <p:cNvSpPr txBox="1"/>
          <p:nvPr/>
        </p:nvSpPr>
        <p:spPr>
          <a:xfrm>
            <a:off x="1035932" y="4973679"/>
            <a:ext cx="6591784" cy="369332"/>
          </a:xfrm>
          <a:prstGeom prst="rect">
            <a:avLst/>
          </a:prstGeom>
          <a:noFill/>
        </p:spPr>
        <p:txBody>
          <a:bodyPr wrap="square" rtlCol="0">
            <a:spAutoFit/>
          </a:bodyPr>
          <a:lstStyle/>
          <a:p>
            <a:r>
              <a:rPr lang="es-PR" sz="1800" dirty="0">
                <a:effectLst/>
                <a:latin typeface="Arial" panose="020B0604020202020204" pitchFamily="34" charset="0"/>
                <a:ea typeface="Arial" panose="020B0604020202020204" pitchFamily="34" charset="0"/>
              </a:rPr>
              <a:t>El Espíritu de Dios descendió y se posó sobre Jesús.</a:t>
            </a:r>
            <a:endParaRPr lang="en-US" sz="1800" dirty="0">
              <a:effectLst/>
              <a:latin typeface="Arial" panose="020B0604020202020204" pitchFamily="34" charset="0"/>
              <a:ea typeface="Arial" panose="020B0604020202020204" pitchFamily="34" charset="0"/>
            </a:endParaRPr>
          </a:p>
        </p:txBody>
      </p:sp>
      <p:sp>
        <p:nvSpPr>
          <p:cNvPr id="11" name="TextBox 10">
            <a:extLst>
              <a:ext uri="{FF2B5EF4-FFF2-40B4-BE49-F238E27FC236}">
                <a16:creationId xmlns:a16="http://schemas.microsoft.com/office/drawing/2014/main" id="{5088E5AC-E32E-5BC9-9FD3-67E2117131E5}"/>
              </a:ext>
            </a:extLst>
          </p:cNvPr>
          <p:cNvSpPr txBox="1"/>
          <p:nvPr/>
        </p:nvSpPr>
        <p:spPr>
          <a:xfrm>
            <a:off x="673139" y="5331758"/>
            <a:ext cx="7535119" cy="646331"/>
          </a:xfrm>
          <a:prstGeom prst="rect">
            <a:avLst/>
          </a:prstGeom>
          <a:noFill/>
        </p:spPr>
        <p:txBody>
          <a:bodyPr wrap="square" rtlCol="0">
            <a:spAutoFit/>
          </a:bodyPr>
          <a:lstStyle/>
          <a:p>
            <a:pPr marL="342900" indent="-342900">
              <a:buFont typeface="+mj-lt"/>
              <a:buAutoNum type="arabicPeriod" startAt="4"/>
            </a:pPr>
            <a:r>
              <a:rPr lang="es-PR" sz="1800" dirty="0">
                <a:effectLst/>
                <a:latin typeface="Arial" panose="020B0604020202020204" pitchFamily="34" charset="0"/>
                <a:ea typeface="Arial" panose="020B0604020202020204" pitchFamily="34" charset="0"/>
              </a:rPr>
              <a:t>[3:17] ¿Qué dijo la voz del cielo después que Jesús salió del agua? </a:t>
            </a:r>
            <a:endParaRPr lang="en-US" sz="1800" dirty="0">
              <a:effectLst/>
              <a:latin typeface="Arial" panose="020B0604020202020204" pitchFamily="34" charset="0"/>
              <a:ea typeface="Arial" panose="020B0604020202020204" pitchFamily="34" charset="0"/>
            </a:endParaRPr>
          </a:p>
          <a:p>
            <a:endParaRPr lang="en-US" dirty="0"/>
          </a:p>
        </p:txBody>
      </p:sp>
      <p:sp>
        <p:nvSpPr>
          <p:cNvPr id="12" name="TextBox 11">
            <a:extLst>
              <a:ext uri="{FF2B5EF4-FFF2-40B4-BE49-F238E27FC236}">
                <a16:creationId xmlns:a16="http://schemas.microsoft.com/office/drawing/2014/main" id="{AD965914-A4A6-07B6-3DF9-5FD15AE94CD3}"/>
              </a:ext>
            </a:extLst>
          </p:cNvPr>
          <p:cNvSpPr txBox="1"/>
          <p:nvPr/>
        </p:nvSpPr>
        <p:spPr>
          <a:xfrm>
            <a:off x="1035932" y="5819596"/>
            <a:ext cx="6840638" cy="369332"/>
          </a:xfrm>
          <a:prstGeom prst="rect">
            <a:avLst/>
          </a:prstGeom>
          <a:noFill/>
        </p:spPr>
        <p:txBody>
          <a:bodyPr wrap="square" rtlCol="0">
            <a:spAutoFit/>
          </a:bodyPr>
          <a:lstStyle/>
          <a:p>
            <a:r>
              <a:rPr lang="es-PR" sz="1800" dirty="0">
                <a:effectLst/>
                <a:latin typeface="Arial" panose="020B0604020202020204" pitchFamily="34" charset="0"/>
                <a:ea typeface="Arial" panose="020B0604020202020204" pitchFamily="34" charset="0"/>
              </a:rPr>
              <a:t>La voz dijo: "Este es mi Hijo amado. </a:t>
            </a:r>
            <a:r>
              <a:rPr lang="es-ES" sz="1800" dirty="0">
                <a:effectLst/>
                <a:latin typeface="Arial" panose="020B0604020202020204" pitchFamily="34" charset="0"/>
                <a:ea typeface="Arial" panose="020B0604020202020204" pitchFamily="34" charset="0"/>
              </a:rPr>
              <a:t>Estoy muy contento con él".</a:t>
            </a:r>
            <a:endParaRPr lang="en-US"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02876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A2612-3D78-768E-FA89-3872DE8DD86F}"/>
              </a:ext>
            </a:extLst>
          </p:cNvPr>
          <p:cNvSpPr>
            <a:spLocks noGrp="1"/>
          </p:cNvSpPr>
          <p:nvPr>
            <p:ph type="title"/>
          </p:nvPr>
        </p:nvSpPr>
        <p:spPr>
          <a:xfrm>
            <a:off x="628650" y="386512"/>
            <a:ext cx="7886700" cy="678359"/>
          </a:xfrm>
        </p:spPr>
        <p:txBody>
          <a:bodyPr/>
          <a:lstStyle/>
          <a:p>
            <a:r>
              <a:rPr lang="en-US" dirty="0" err="1"/>
              <a:t>continuación</a:t>
            </a:r>
            <a:endParaRPr lang="en-US" dirty="0"/>
          </a:p>
        </p:txBody>
      </p:sp>
      <p:sp>
        <p:nvSpPr>
          <p:cNvPr id="3" name="TextBox 2">
            <a:extLst>
              <a:ext uri="{FF2B5EF4-FFF2-40B4-BE49-F238E27FC236}">
                <a16:creationId xmlns:a16="http://schemas.microsoft.com/office/drawing/2014/main" id="{AB15392C-EB43-5149-E106-B3C6149400D3}"/>
              </a:ext>
            </a:extLst>
          </p:cNvPr>
          <p:cNvSpPr txBox="1"/>
          <p:nvPr/>
        </p:nvSpPr>
        <p:spPr>
          <a:xfrm>
            <a:off x="844952" y="1319514"/>
            <a:ext cx="7477245" cy="646331"/>
          </a:xfrm>
          <a:prstGeom prst="rect">
            <a:avLst/>
          </a:prstGeom>
          <a:noFill/>
        </p:spPr>
        <p:txBody>
          <a:bodyPr wrap="square" rtlCol="0">
            <a:spAutoFit/>
          </a:bodyPr>
          <a:lstStyle/>
          <a:p>
            <a:pPr marL="342900" indent="-342900">
              <a:buFont typeface="+mj-lt"/>
              <a:buAutoNum type="arabicPeriod" startAt="5"/>
            </a:pPr>
            <a:r>
              <a:rPr lang="es-PR" sz="1800" dirty="0">
                <a:effectLst/>
                <a:latin typeface="Arial" panose="020B0604020202020204" pitchFamily="34" charset="0"/>
                <a:ea typeface="Arial" panose="020B0604020202020204" pitchFamily="34" charset="0"/>
              </a:rPr>
              <a:t>[3:17] ¿De quién crees que era la voz que hablaba? </a:t>
            </a:r>
            <a:endParaRPr lang="en-US" sz="1800" dirty="0">
              <a:effectLst/>
              <a:latin typeface="Arial" panose="020B0604020202020204" pitchFamily="34" charset="0"/>
              <a:ea typeface="Arial" panose="020B0604020202020204" pitchFamily="34" charset="0"/>
            </a:endParaRPr>
          </a:p>
          <a:p>
            <a:endParaRPr lang="en-US" dirty="0"/>
          </a:p>
        </p:txBody>
      </p:sp>
      <p:sp>
        <p:nvSpPr>
          <p:cNvPr id="4" name="TextBox 3">
            <a:extLst>
              <a:ext uri="{FF2B5EF4-FFF2-40B4-BE49-F238E27FC236}">
                <a16:creationId xmlns:a16="http://schemas.microsoft.com/office/drawing/2014/main" id="{A307EA98-1BC3-4F60-6381-BC47B0FB6A38}"/>
              </a:ext>
            </a:extLst>
          </p:cNvPr>
          <p:cNvSpPr txBox="1"/>
          <p:nvPr/>
        </p:nvSpPr>
        <p:spPr>
          <a:xfrm>
            <a:off x="1203768" y="1695162"/>
            <a:ext cx="6134582" cy="923330"/>
          </a:xfrm>
          <a:prstGeom prst="rect">
            <a:avLst/>
          </a:prstGeom>
          <a:noFill/>
        </p:spPr>
        <p:txBody>
          <a:bodyPr wrap="square" rtlCol="0">
            <a:spAutoFit/>
          </a:bodyPr>
          <a:lstStyle/>
          <a:p>
            <a:r>
              <a:rPr lang="es-PR" sz="1800" dirty="0">
                <a:effectLst/>
                <a:latin typeface="Arial" panose="020B0604020202020204" pitchFamily="34" charset="0"/>
                <a:ea typeface="Arial" panose="020B0604020202020204" pitchFamily="34" charset="0"/>
              </a:rPr>
              <a:t>Al decir que la voz vino del cielo, el pasaje muestra que era la voz de Dios el Padre. </a:t>
            </a:r>
          </a:p>
          <a:p>
            <a:endParaRPr lang="en-US" dirty="0"/>
          </a:p>
        </p:txBody>
      </p:sp>
      <p:sp>
        <p:nvSpPr>
          <p:cNvPr id="5" name="TextBox 4">
            <a:extLst>
              <a:ext uri="{FF2B5EF4-FFF2-40B4-BE49-F238E27FC236}">
                <a16:creationId xmlns:a16="http://schemas.microsoft.com/office/drawing/2014/main" id="{18663B72-81B7-B000-3E22-73341EDE9280}"/>
              </a:ext>
            </a:extLst>
          </p:cNvPr>
          <p:cNvSpPr txBox="1"/>
          <p:nvPr/>
        </p:nvSpPr>
        <p:spPr>
          <a:xfrm>
            <a:off x="844952" y="2465407"/>
            <a:ext cx="6493398" cy="702308"/>
          </a:xfrm>
          <a:prstGeom prst="rect">
            <a:avLst/>
          </a:prstGeom>
          <a:noFill/>
        </p:spPr>
        <p:txBody>
          <a:bodyPr wrap="square" rtlCol="0">
            <a:spAutoFit/>
          </a:bodyPr>
          <a:lstStyle/>
          <a:p>
            <a:pPr marL="342900" marR="0" lvl="0" indent="-342900">
              <a:lnSpc>
                <a:spcPct val="115000"/>
              </a:lnSpc>
              <a:buFont typeface="+mj-lt"/>
              <a:buAutoNum type="arabicPeriod" startAt="6"/>
            </a:pPr>
            <a:r>
              <a:rPr lang="es-PR" sz="1800" dirty="0">
                <a:effectLst/>
                <a:latin typeface="Arial" panose="020B0604020202020204" pitchFamily="34" charset="0"/>
                <a:ea typeface="Arial" panose="020B0604020202020204" pitchFamily="34" charset="0"/>
              </a:rPr>
              <a:t>[3:17] ¿De quién cree que Dios el Padre estaba hablando en el versículo 17? </a:t>
            </a:r>
            <a:endParaRPr lang="en-US" sz="1800" dirty="0">
              <a:effectLst/>
              <a:latin typeface="Arial" panose="020B0604020202020204" pitchFamily="34" charset="0"/>
              <a:ea typeface="Arial" panose="020B0604020202020204" pitchFamily="34" charset="0"/>
            </a:endParaRPr>
          </a:p>
        </p:txBody>
      </p:sp>
      <p:sp>
        <p:nvSpPr>
          <p:cNvPr id="6" name="TextBox 5">
            <a:extLst>
              <a:ext uri="{FF2B5EF4-FFF2-40B4-BE49-F238E27FC236}">
                <a16:creationId xmlns:a16="http://schemas.microsoft.com/office/drawing/2014/main" id="{BCDCE48A-1399-7BAC-10AE-EAB7D1528288}"/>
              </a:ext>
            </a:extLst>
          </p:cNvPr>
          <p:cNvSpPr txBox="1"/>
          <p:nvPr/>
        </p:nvSpPr>
        <p:spPr>
          <a:xfrm>
            <a:off x="1203768" y="3167715"/>
            <a:ext cx="6134582" cy="369332"/>
          </a:xfrm>
          <a:prstGeom prst="rect">
            <a:avLst/>
          </a:prstGeom>
          <a:noFill/>
        </p:spPr>
        <p:txBody>
          <a:bodyPr wrap="square" rtlCol="0">
            <a:spAutoFit/>
          </a:bodyPr>
          <a:lstStyle/>
          <a:p>
            <a:r>
              <a:rPr lang="es-PR" sz="1800" dirty="0">
                <a:effectLst/>
                <a:latin typeface="Arial" panose="020B0604020202020204" pitchFamily="34" charset="0"/>
                <a:ea typeface="Arial" panose="020B0604020202020204" pitchFamily="34" charset="0"/>
              </a:rPr>
              <a:t>El pasaje muestra que estaba hablando de Jesús.</a:t>
            </a:r>
            <a:endParaRPr lang="en-US" sz="1800" dirty="0">
              <a:effectLst/>
              <a:latin typeface="Arial" panose="020B0604020202020204" pitchFamily="34" charset="0"/>
              <a:ea typeface="Arial" panose="020B0604020202020204" pitchFamily="34" charset="0"/>
            </a:endParaRPr>
          </a:p>
        </p:txBody>
      </p:sp>
      <p:sp>
        <p:nvSpPr>
          <p:cNvPr id="7" name="TextBox 6">
            <a:extLst>
              <a:ext uri="{FF2B5EF4-FFF2-40B4-BE49-F238E27FC236}">
                <a16:creationId xmlns:a16="http://schemas.microsoft.com/office/drawing/2014/main" id="{CCF345AA-0F25-6301-C689-F071BED964D7}"/>
              </a:ext>
            </a:extLst>
          </p:cNvPr>
          <p:cNvSpPr txBox="1"/>
          <p:nvPr/>
        </p:nvSpPr>
        <p:spPr>
          <a:xfrm>
            <a:off x="925975" y="3716938"/>
            <a:ext cx="4907666" cy="383823"/>
          </a:xfrm>
          <a:prstGeom prst="rect">
            <a:avLst/>
          </a:prstGeom>
          <a:noFill/>
        </p:spPr>
        <p:txBody>
          <a:bodyPr wrap="square" rtlCol="0">
            <a:spAutoFit/>
          </a:bodyPr>
          <a:lstStyle/>
          <a:p>
            <a:pPr marL="0" marR="0">
              <a:lnSpc>
                <a:spcPct val="115000"/>
              </a:lnSpc>
              <a:spcBef>
                <a:spcPts val="1200"/>
              </a:spcBef>
              <a:buNone/>
            </a:pPr>
            <a:r>
              <a:rPr lang="es-PR" sz="1800" b="1" dirty="0">
                <a:effectLst/>
                <a:latin typeface="Arial" panose="020B0604020202020204" pitchFamily="34" charset="0"/>
                <a:ea typeface="Arial" panose="020B0604020202020204" pitchFamily="34" charset="0"/>
              </a:rPr>
              <a:t>Sección de comentarios:</a:t>
            </a:r>
            <a:endParaRPr lang="en-US"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381347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1513114"/>
          </a:xfrm>
          <a:prstGeom prst="rect">
            <a:avLst/>
          </a:prstGeom>
          <a:solidFill>
            <a:schemeClr val="accent2">
              <a:lumMod val="20000"/>
              <a:lumOff val="80000"/>
            </a:schemeClr>
          </a:solidFill>
          <a:ln>
            <a:noFill/>
          </a:ln>
        </p:spPr>
        <p:txBody>
          <a:bodyPr rtlCol="0" anchor="ctr">
            <a:noAutofit/>
          </a:bodyPr>
          <a:lstStyle/>
          <a:p>
            <a:pPr algn="ctr"/>
            <a:endParaRPr lang="es-ES_tradnl" sz="2000" noProof="1">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2" y="176749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s-ES_tradnl" sz="6000" b="1" noProof="1">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786045" y="2600674"/>
            <a:ext cx="3571907" cy="923330"/>
          </a:xfrm>
          <a:prstGeom prst="rect">
            <a:avLst/>
          </a:prstGeom>
          <a:noFill/>
        </p:spPr>
        <p:txBody>
          <a:bodyPr wrap="square">
            <a:spAutoFit/>
          </a:bodyPr>
          <a:lstStyle/>
          <a:p>
            <a:pPr lvl="0" algn="ctr">
              <a:defRPr/>
            </a:pPr>
            <a:r>
              <a:rPr lang="es-ES_tradnl" sz="5400" b="1" noProof="1">
                <a:solidFill>
                  <a:srgbClr val="FFFFFF"/>
                </a:solidFill>
                <a:cs typeface="Arial" panose="020B0604020202020204" pitchFamily="34" charset="0"/>
              </a:rPr>
              <a:t>Inténtalo</a:t>
            </a:r>
            <a:endParaRPr kumimoji="0" lang="es-ES_tradnl" sz="5400" b="1" i="0" u="none" strike="noStrike" kern="1200" cap="none" spc="0" normalizeH="0" baseline="0" noProof="1">
              <a:ln>
                <a:noFill/>
              </a:ln>
              <a:solidFill>
                <a:srgbClr val="FFFFFF"/>
              </a:solidFill>
              <a:effectLst/>
              <a:uLnTx/>
              <a:uFillTx/>
              <a:latin typeface="Arial" panose="020B0604020202020204"/>
              <a:cs typeface="Arial" panose="020B0604020202020204" pitchFamily="34" charset="0"/>
            </a:endParaRPr>
          </a:p>
        </p:txBody>
      </p:sp>
    </p:spTree>
    <p:extLst>
      <p:ext uri="{BB962C8B-B14F-4D97-AF65-F5344CB8AC3E}">
        <p14:creationId xmlns:p14="http://schemas.microsoft.com/office/powerpoint/2010/main" val="258332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grpSp>
    </p:spTree>
    <p:extLst>
      <p:ext uri="{BB962C8B-B14F-4D97-AF65-F5344CB8AC3E}">
        <p14:creationId xmlns:p14="http://schemas.microsoft.com/office/powerpoint/2010/main" val="77593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3fff9ed69b78a1d1c48e3f96068d2b17">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7b2c40b849e0c1cff02f16dd8f1be10b"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BB29CC1-E656-4579-9C50-89BAE49F99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e82e44-1fa4-4144-8309-00fed2bf4198"/>
    <ds:schemaRef ds:uri="1a61c928-f5f6-4989-bd5d-cb8872a1b0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178770A-F6AC-406B-AF0D-88CBCF36B701}">
  <ds:schemaRefs>
    <ds:schemaRef ds:uri="http://schemas.microsoft.com/sharepoint/v3/contenttype/forms"/>
  </ds:schemaRefs>
</ds:datastoreItem>
</file>

<file path=customXml/itemProps3.xml><?xml version="1.0" encoding="utf-8"?>
<ds:datastoreItem xmlns:ds="http://schemas.openxmlformats.org/officeDocument/2006/customXml" ds:itemID="{DD870300-B03F-45F7-9154-521D8C74684E}">
  <ds:schemaRefs>
    <ds:schemaRef ds:uri="http://purl.org/dc/elements/1.1/"/>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1a61c928-f5f6-4989-bd5d-cb8872a1b06d"/>
    <ds:schemaRef ds:uri="http://purl.org/dc/terms/"/>
    <ds:schemaRef ds:uri="http://schemas.openxmlformats.org/package/2006/metadata/core-properties"/>
    <ds:schemaRef ds:uri="fee82e44-1fa4-4144-8309-00fed2bf4198"/>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3520</TotalTime>
  <Words>622</Words>
  <Application>Microsoft Macintosh PowerPoint</Application>
  <PresentationFormat>On-screen Show (4:3)</PresentationFormat>
  <Paragraphs>70</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La gente</vt:lpstr>
      <vt:lpstr>Prepárese para la Revisión</vt:lpstr>
      <vt:lpstr>Revisa un pasaje</vt:lpstr>
      <vt:lpstr>Puntos clave</vt:lpstr>
      <vt:lpstr>Un Ejemplo</vt:lpstr>
      <vt:lpstr>contiuación</vt:lpstr>
      <vt:lpstr>continuación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Tammy Enns</cp:lastModifiedBy>
  <cp:revision>195</cp:revision>
  <dcterms:created xsi:type="dcterms:W3CDTF">2019-03-18T18:21:25Z</dcterms:created>
  <dcterms:modified xsi:type="dcterms:W3CDTF">2025-05-10T15:51:08Z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