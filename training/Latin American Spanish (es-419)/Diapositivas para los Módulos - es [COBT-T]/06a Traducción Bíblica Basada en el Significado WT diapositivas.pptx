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60" r:id="rId5"/>
    <p:sldId id="294" r:id="rId6"/>
    <p:sldId id="264" r:id="rId7"/>
    <p:sldId id="295" r:id="rId8"/>
    <p:sldId id="292" r:id="rId9"/>
    <p:sldId id="307" r:id="rId10"/>
    <p:sldId id="28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FBA93D"/>
    <a:srgbClr val="83A83F"/>
    <a:srgbClr val="C3DD93"/>
    <a:srgbClr val="716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515" autoAdjust="0"/>
    <p:restoredTop sz="95655" autoAdjust="0"/>
  </p:normalViewPr>
  <p:slideViewPr>
    <p:cSldViewPr snapToGrid="0">
      <p:cViewPr varScale="1">
        <p:scale>
          <a:sx n="112" d="100"/>
          <a:sy n="112" d="100"/>
        </p:scale>
        <p:origin x="69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87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C7C6F9D-BB9E-4FC8-82AF-1EAB0656B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878651"/>
            <a:ext cx="9144000" cy="478536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s-ES_tradnl" sz="3600" b="1" noProof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 Traducción Basada en el Significado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1D487FB-FD89-4880-9F1E-823CEFE6BAF7}"/>
              </a:ext>
            </a:extLst>
          </p:cNvPr>
          <p:cNvSpPr/>
          <p:nvPr/>
        </p:nvSpPr>
        <p:spPr>
          <a:xfrm>
            <a:off x="3657867" y="2566102"/>
            <a:ext cx="1704965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2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400" noProof="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  <a:r>
              <a:rPr lang="es-ES_tradnl" sz="2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48AFEB-E044-4CBA-909F-884F5AF63878}"/>
              </a:ext>
            </a:extLst>
          </p:cNvPr>
          <p:cNvSpPr/>
          <p:nvPr/>
        </p:nvSpPr>
        <p:spPr>
          <a:xfrm>
            <a:off x="3657867" y="2566102"/>
            <a:ext cx="1828263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endParaRPr lang="es-ES_tradnl" sz="2400" noProof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s-ES_tradnl" sz="2400" noProof="0" dirty="0">
                <a:solidFill>
                  <a:schemeClr val="tx2"/>
                </a:solidFill>
                <a:latin typeface="Arial" panose="020B0604020202020204" pitchFamily="34" charset="0"/>
              </a:rPr>
              <a:t>Palabras</a:t>
            </a:r>
            <a:endParaRPr lang="es-ES_tradnl" sz="24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8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Traducción literal en comparación a la Traducción basada en el significado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C11D2D-927C-4BD8-BF47-1C12640B77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" r="19934"/>
          <a:stretch/>
        </p:blipFill>
        <p:spPr>
          <a:xfrm>
            <a:off x="3124200" y="1370090"/>
            <a:ext cx="2895600" cy="2896446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935C96B-EA93-4662-A28E-D10DCBFBBC33}"/>
              </a:ext>
            </a:extLst>
          </p:cNvPr>
          <p:cNvSpPr/>
          <p:nvPr/>
        </p:nvSpPr>
        <p:spPr>
          <a:xfrm>
            <a:off x="465499" y="4074454"/>
            <a:ext cx="3058994" cy="2313145"/>
          </a:xfrm>
          <a:prstGeom prst="wedgeRoundRectCallout">
            <a:avLst>
              <a:gd name="adj1" fmla="val 37529"/>
              <a:gd name="adj2" fmla="val -72563"/>
              <a:gd name="adj3" fmla="val 16667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/>
            <a:r>
              <a:rPr lang="es-ES_tradnl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Literal</a:t>
            </a:r>
          </a:p>
          <a:p>
            <a:pPr algn="ctr"/>
            <a:endParaRPr lang="es-ES_tradnl" sz="2400" b="1" noProof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_tradnl" sz="2400" b="1" noProof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85F8BF29-8E34-4214-92FB-3407A0045D5A}"/>
              </a:ext>
            </a:extLst>
          </p:cNvPr>
          <p:cNvSpPr/>
          <p:nvPr/>
        </p:nvSpPr>
        <p:spPr>
          <a:xfrm>
            <a:off x="5561741" y="3805085"/>
            <a:ext cx="3116759" cy="2657404"/>
          </a:xfrm>
          <a:prstGeom prst="wedgeRoundRectCallout">
            <a:avLst>
              <a:gd name="adj1" fmla="val -38625"/>
              <a:gd name="adj2" fmla="val -72563"/>
              <a:gd name="adj3" fmla="val 16667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/>
            <a:r>
              <a:rPr lang="es-ES_tradnl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base del significado</a:t>
            </a:r>
          </a:p>
          <a:p>
            <a:pPr algn="ctr"/>
            <a:endParaRPr lang="es-ES_tradnl" sz="2400" b="1" noProof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_tradnl" sz="2400" b="1" noProof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_tradnl" sz="2400" b="1" noProof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_tradnl" sz="2400" b="1" noProof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00BCB4-0DB3-4340-AAD1-F1823782AAD1}"/>
              </a:ext>
            </a:extLst>
          </p:cNvPr>
          <p:cNvSpPr txBox="1"/>
          <p:nvPr/>
        </p:nvSpPr>
        <p:spPr>
          <a:xfrm>
            <a:off x="465499" y="4682835"/>
            <a:ext cx="3058995" cy="138570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174625" indent="-174625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_tradnl" sz="2000" noProof="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Enfoque en reafirmar cada palabra en el texto fuente, palabra por palabra</a:t>
            </a:r>
            <a:endParaRPr lang="es-ES_tradnl" sz="2000" noProof="0" dirty="0">
              <a:solidFill>
                <a:schemeClr val="tx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AAF617-C9A9-4775-8419-07A090C06C10}"/>
              </a:ext>
            </a:extLst>
          </p:cNvPr>
          <p:cNvSpPr txBox="1"/>
          <p:nvPr/>
        </p:nvSpPr>
        <p:spPr>
          <a:xfrm>
            <a:off x="5619506" y="4682835"/>
            <a:ext cx="3058994" cy="1715021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174625" indent="-174625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_tradnl" sz="2000" noProof="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Enfoque en traducir el mensaje del texto fuente y así su significado es mejor comprendido</a:t>
            </a:r>
            <a:endParaRPr lang="es-ES_tradnl" sz="2000" noProof="0" dirty="0">
              <a:solidFill>
                <a:schemeClr val="tx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C9F7B-026F-9DD2-7CB3-3891834EB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7192" y="2633021"/>
            <a:ext cx="1086034" cy="9835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448AFEB-E044-4CBA-909F-884F5AF63878}"/>
              </a:ext>
            </a:extLst>
          </p:cNvPr>
          <p:cNvSpPr/>
          <p:nvPr/>
        </p:nvSpPr>
        <p:spPr>
          <a:xfrm>
            <a:off x="5565441" y="3841218"/>
            <a:ext cx="1828263" cy="1725793"/>
          </a:xfrm>
          <a:prstGeom prst="ellipse">
            <a:avLst/>
          </a:prstGeom>
          <a:solidFill>
            <a:schemeClr val="bg1"/>
          </a:solidFill>
          <a:ln w="57150">
            <a:solidFill>
              <a:srgbClr val="FBA93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endParaRPr lang="es-ES_tradnl" sz="2400" noProof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s-ES_tradnl" sz="2400" noProof="0" dirty="0" err="1">
                <a:solidFill>
                  <a:schemeClr val="tx2"/>
                </a:solidFill>
              </a:rPr>
              <a:t>message</a:t>
            </a:r>
            <a:endParaRPr lang="es-ES_tradnl" sz="2400" noProof="0" dirty="0">
              <a:solidFill>
                <a:schemeClr val="tx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D487FB-FD89-4880-9F1E-823CEFE6BAF7}"/>
              </a:ext>
            </a:extLst>
          </p:cNvPr>
          <p:cNvSpPr/>
          <p:nvPr/>
        </p:nvSpPr>
        <p:spPr>
          <a:xfrm>
            <a:off x="1581932" y="3841217"/>
            <a:ext cx="1704965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2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400" noProof="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  <a:r>
              <a:rPr lang="es-ES_tradnl" sz="2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025" name="Picture 21">
            <a:extLst>
              <a:ext uri="{FF2B5EF4-FFF2-40B4-BE49-F238E27FC236}">
                <a16:creationId xmlns:a16="http://schemas.microsoft.com/office/drawing/2014/main" id="{0E0CA9F0-9922-FADC-F9AB-F000B4F91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" b="1008"/>
          <a:stretch/>
        </p:blipFill>
        <p:spPr bwMode="auto">
          <a:xfrm>
            <a:off x="3143250" y="1158404"/>
            <a:ext cx="2834640" cy="2280311"/>
          </a:xfrm>
          <a:prstGeom prst="ellipse">
            <a:avLst/>
          </a:prstGeom>
          <a:noFill/>
          <a:ln w="57150">
            <a:solidFill>
              <a:srgbClr val="FBA93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C32978-07CA-83F9-9697-726FD2C2950E}"/>
              </a:ext>
            </a:extLst>
          </p:cNvPr>
          <p:cNvSpPr txBox="1">
            <a:spLocks/>
          </p:cNvSpPr>
          <p:nvPr/>
        </p:nvSpPr>
        <p:spPr>
          <a:xfrm>
            <a:off x="628650" y="386512"/>
            <a:ext cx="78867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ES_tradnl" noProof="0" dirty="0">
                <a:solidFill>
                  <a:schemeClr val="accent1"/>
                </a:solidFill>
              </a:rPr>
              <a:t>Interpretación Oral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D9BA44-719B-139C-2ED0-25C5772CD166}"/>
              </a:ext>
            </a:extLst>
          </p:cNvPr>
          <p:cNvSpPr/>
          <p:nvPr/>
        </p:nvSpPr>
        <p:spPr>
          <a:xfrm>
            <a:off x="3534035" y="3841216"/>
            <a:ext cx="1828263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endParaRPr lang="es-ES_tradnl" sz="2400" noProof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s-ES_tradnl" sz="2400" noProof="0" dirty="0">
                <a:solidFill>
                  <a:schemeClr val="tx2"/>
                </a:solidFill>
              </a:rPr>
              <a:t>clara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ED5599-9BB4-1F97-5AE4-55E5725E65FF}"/>
              </a:ext>
            </a:extLst>
          </p:cNvPr>
          <p:cNvSpPr/>
          <p:nvPr/>
        </p:nvSpPr>
        <p:spPr>
          <a:xfrm>
            <a:off x="1576633" y="3860454"/>
            <a:ext cx="1704965" cy="172579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s-ES_tradnl" sz="2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precisa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CFC379-0711-8002-9E95-C5ADC27EE4DF}"/>
              </a:ext>
            </a:extLst>
          </p:cNvPr>
          <p:cNvSpPr/>
          <p:nvPr/>
        </p:nvSpPr>
        <p:spPr>
          <a:xfrm>
            <a:off x="5565441" y="3860454"/>
            <a:ext cx="1828263" cy="1725793"/>
          </a:xfrm>
          <a:prstGeom prst="ellipse">
            <a:avLst/>
          </a:prstGeom>
          <a:solidFill>
            <a:schemeClr val="bg1"/>
          </a:solidFill>
          <a:ln w="57150">
            <a:solidFill>
              <a:srgbClr val="FBA93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endParaRPr lang="es-ES_tradnl" sz="2400" noProof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s-ES_tradnl" sz="2400" noProof="0" dirty="0">
                <a:solidFill>
                  <a:schemeClr val="tx2"/>
                </a:solidFill>
              </a:rPr>
              <a:t>natural</a:t>
            </a:r>
          </a:p>
        </p:txBody>
      </p:sp>
    </p:spTree>
    <p:extLst>
      <p:ext uri="{BB962C8B-B14F-4D97-AF65-F5344CB8AC3E}">
        <p14:creationId xmlns:p14="http://schemas.microsoft.com/office/powerpoint/2010/main" val="415658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9" grpId="0" animBg="1"/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FB4CBA-4FE1-4DA6-82E7-736564015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124200" y="1370090"/>
            <a:ext cx="2895600" cy="2896446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A146C3B5-40A1-47E2-A09A-2CF2663D026A}"/>
              </a:ext>
            </a:extLst>
          </p:cNvPr>
          <p:cNvSpPr/>
          <p:nvPr/>
        </p:nvSpPr>
        <p:spPr>
          <a:xfrm>
            <a:off x="406213" y="1563375"/>
            <a:ext cx="2497573" cy="1052006"/>
          </a:xfrm>
          <a:prstGeom prst="wedgeRoundRectCallout">
            <a:avLst>
              <a:gd name="adj1" fmla="val 76674"/>
              <a:gd name="adj2" fmla="val 46588"/>
              <a:gd name="adj3" fmla="val 16667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s-ES_tradnl" sz="2400" b="1" noProof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Nice</a:t>
            </a:r>
            <a:r>
              <a:rPr lang="es-ES_tradnl" sz="2400" b="1" noProof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400" b="1" noProof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_tradnl" sz="2400" b="1" noProof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400" b="1" noProof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</a:t>
            </a:r>
            <a:r>
              <a:rPr lang="es-ES_tradnl" sz="2400" b="1" noProof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400" b="1" noProof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es-ES_tradnl" sz="2400" b="1" noProof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_tradnl" sz="2400" b="1" noProof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es-ES_tradnl" sz="2400" b="1" noProof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400" b="1" noProof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s-ES_tradnl" sz="2400" b="1" noProof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400" b="1" noProof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_tradnl" sz="2400" b="1" noProof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John.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1D0D25-FA85-478C-8081-8AFD8D5A16D5}"/>
              </a:ext>
            </a:extLst>
          </p:cNvPr>
          <p:cNvSpPr/>
          <p:nvPr/>
        </p:nvSpPr>
        <p:spPr>
          <a:xfrm>
            <a:off x="406214" y="4074455"/>
            <a:ext cx="3058994" cy="2054204"/>
          </a:xfrm>
          <a:prstGeom prst="roundRect">
            <a:avLst>
              <a:gd name="adj" fmla="val 11490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s-ES_tradnl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Traducción Literal</a:t>
            </a:r>
          </a:p>
          <a:p>
            <a:pPr algn="ctr">
              <a:spcAft>
                <a:spcPts val="1200"/>
              </a:spcAft>
            </a:pPr>
            <a:r>
              <a:rPr lang="es-ES_tradnl" sz="2400" noProof="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Muy bien </a:t>
            </a:r>
            <a:r>
              <a:rPr lang="es-ES_tradnl" sz="2400" noProof="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encontrar tú. </a:t>
            </a:r>
            <a:r>
              <a:rPr lang="es-ES_tradnl" sz="2400" noProof="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 nombre es John</a:t>
            </a:r>
            <a:endParaRPr lang="es-ES_tradnl" sz="2400" b="1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0CED34-2194-49DF-98B0-7FA80C930A70}"/>
              </a:ext>
            </a:extLst>
          </p:cNvPr>
          <p:cNvSpPr/>
          <p:nvPr/>
        </p:nvSpPr>
        <p:spPr>
          <a:xfrm>
            <a:off x="5590572" y="4074454"/>
            <a:ext cx="3147215" cy="2054204"/>
          </a:xfrm>
          <a:prstGeom prst="roundRect">
            <a:avLst>
              <a:gd name="adj" fmla="val 11490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s-ES_tradnl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Traducción basada en el significado</a:t>
            </a:r>
          </a:p>
          <a:p>
            <a:pPr algn="ctr">
              <a:spcAft>
                <a:spcPts val="1200"/>
              </a:spcAft>
            </a:pPr>
            <a:r>
              <a:rPr lang="es-ES_tradnl" sz="2300" noProof="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Mucho gusto. </a:t>
            </a:r>
            <a:br>
              <a:rPr lang="es-ES_tradnl" sz="2300" noProof="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ES_tradnl" sz="2300" noProof="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 llamo Juan.</a:t>
            </a:r>
            <a:endParaRPr lang="es-ES_tradnl" sz="2300" b="1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A77A2-EC34-C387-77DB-CDC0D22B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Ejemplos del español a inglés</a:t>
            </a:r>
          </a:p>
        </p:txBody>
      </p:sp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F7D26-B43A-B6F1-B043-1241533F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3"/>
            <a:ext cx="7886700" cy="762666"/>
          </a:xfrm>
        </p:spPr>
        <p:txBody>
          <a:bodyPr/>
          <a:lstStyle/>
          <a:p>
            <a:r>
              <a:rPr lang="es-ES_tradnl" noProof="0" dirty="0"/>
              <a:t>AMATB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16DBF-DB47-9835-114D-66AA258F6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9352" y="2020161"/>
            <a:ext cx="7118431" cy="4451326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s-ES_tradnl" b="1" noProof="0" dirty="0">
                <a:solidFill>
                  <a:srgbClr val="B95659"/>
                </a:solidFill>
              </a:rPr>
              <a:t>Asistencia</a:t>
            </a:r>
            <a:r>
              <a:rPr lang="es-ES_tradnl" noProof="0" dirty="0">
                <a:solidFill>
                  <a:schemeClr val="tx2"/>
                </a:solidFill>
              </a:rPr>
              <a:t>—</a:t>
            </a:r>
            <a:r>
              <a:rPr lang="es-ES_tradnl" sz="2300" noProof="0" dirty="0">
                <a:solidFill>
                  <a:schemeClr val="tx2"/>
                </a:solidFill>
              </a:rPr>
              <a:t>asistiendo a la iglesia local, mundialmente</a:t>
            </a:r>
          </a:p>
          <a:p>
            <a:pPr>
              <a:spcAft>
                <a:spcPts val="1200"/>
              </a:spcAft>
            </a:pPr>
            <a:r>
              <a:rPr lang="es-ES_tradnl" b="1" noProof="0" dirty="0">
                <a:solidFill>
                  <a:srgbClr val="B95659"/>
                </a:solidFill>
              </a:rPr>
              <a:t>Movilizada</a:t>
            </a:r>
            <a:r>
              <a:rPr lang="es-ES_tradnl" noProof="0" dirty="0">
                <a:solidFill>
                  <a:schemeClr val="tx2"/>
                </a:solidFill>
              </a:rPr>
              <a:t>—</a:t>
            </a:r>
            <a:r>
              <a:rPr lang="es-ES_tradnl" sz="2300" noProof="0" dirty="0">
                <a:solidFill>
                  <a:schemeClr val="tx2"/>
                </a:solidFill>
              </a:rPr>
              <a:t>viajando por el mundo entrenando</a:t>
            </a:r>
            <a:r>
              <a:rPr lang="es-ES_tradnl" sz="2300" dirty="0">
                <a:solidFill>
                  <a:schemeClr val="tx2"/>
                </a:solidFill>
              </a:rPr>
              <a:t> a</a:t>
            </a:r>
            <a:r>
              <a:rPr lang="es-ES_tradnl" sz="2300" noProof="0" dirty="0">
                <a:solidFill>
                  <a:schemeClr val="tx2"/>
                </a:solidFill>
              </a:rPr>
              <a:t> traductores</a:t>
            </a:r>
          </a:p>
          <a:p>
            <a:pPr>
              <a:spcAft>
                <a:spcPts val="1200"/>
              </a:spcAft>
            </a:pPr>
            <a:r>
              <a:rPr lang="es-ES_tradnl" b="1" noProof="0" dirty="0">
                <a:solidFill>
                  <a:srgbClr val="B95659"/>
                </a:solidFill>
              </a:rPr>
              <a:t>Apoyando</a:t>
            </a:r>
            <a:r>
              <a:rPr lang="es-ES_tradnl" noProof="0" dirty="0">
                <a:solidFill>
                  <a:schemeClr val="tx2"/>
                </a:solidFill>
              </a:rPr>
              <a:t>—</a:t>
            </a:r>
            <a:r>
              <a:rPr lang="es-ES_tradnl" sz="2300" noProof="0" dirty="0">
                <a:solidFill>
                  <a:schemeClr val="tx2"/>
                </a:solidFill>
              </a:rPr>
              <a:t>proveyendo entrenamiento, materiales, y herramientas a la iglesia local</a:t>
            </a:r>
          </a:p>
          <a:p>
            <a:pPr>
              <a:spcAft>
                <a:spcPts val="1200"/>
              </a:spcAft>
            </a:pPr>
            <a:r>
              <a:rPr lang="es-ES_tradnl" b="1" noProof="0" dirty="0">
                <a:solidFill>
                  <a:srgbClr val="B95659"/>
                </a:solidFill>
              </a:rPr>
              <a:t>Traducción</a:t>
            </a:r>
            <a:r>
              <a:rPr lang="es-ES_tradnl" noProof="0" dirty="0">
                <a:solidFill>
                  <a:schemeClr val="tx2"/>
                </a:solidFill>
              </a:rPr>
              <a:t>—asociándonos con la iglesia local para realizar la biblia en todo idioma</a:t>
            </a:r>
          </a:p>
          <a:p>
            <a:pPr>
              <a:spcAft>
                <a:spcPts val="1200"/>
              </a:spcAft>
            </a:pPr>
            <a:r>
              <a:rPr lang="es-ES_tradnl" b="1" noProof="0" dirty="0" err="1">
                <a:solidFill>
                  <a:srgbClr val="B95659"/>
                </a:solidFill>
              </a:rPr>
              <a:t>Biblica</a:t>
            </a:r>
            <a:r>
              <a:rPr lang="es-ES_tradnl" noProof="0" dirty="0">
                <a:solidFill>
                  <a:schemeClr val="tx2"/>
                </a:solidFill>
              </a:rPr>
              <a:t> – Realizando traducciones Bíblicas</a:t>
            </a:r>
          </a:p>
          <a:p>
            <a:pPr marL="0" indent="0">
              <a:spcAft>
                <a:spcPts val="1200"/>
              </a:spcAft>
              <a:buNone/>
            </a:pPr>
            <a:endParaRPr lang="es-ES_tradnl" noProof="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2D954-6A2D-2D28-C34F-6FAA4717D8C3}"/>
              </a:ext>
            </a:extLst>
          </p:cNvPr>
          <p:cNvSpPr txBox="1"/>
          <p:nvPr/>
        </p:nvSpPr>
        <p:spPr>
          <a:xfrm>
            <a:off x="1149178" y="924232"/>
            <a:ext cx="6805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noProof="0" dirty="0">
                <a:solidFill>
                  <a:srgbClr val="B95659"/>
                </a:solidFill>
              </a:rPr>
              <a:t>Asistencia Movilizada Apoyando la Traducción Bíblica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C0396-765F-D92D-C453-2DBE50AA8888}"/>
              </a:ext>
            </a:extLst>
          </p:cNvPr>
          <p:cNvSpPr txBox="1"/>
          <p:nvPr/>
        </p:nvSpPr>
        <p:spPr>
          <a:xfrm>
            <a:off x="766119" y="1981137"/>
            <a:ext cx="766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400" b="1" noProof="0" dirty="0">
                <a:solidFill>
                  <a:srgbClr val="B95659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0F540-9876-33B5-E90A-853A62DFDA3B}"/>
              </a:ext>
            </a:extLst>
          </p:cNvPr>
          <p:cNvSpPr txBox="1"/>
          <p:nvPr/>
        </p:nvSpPr>
        <p:spPr>
          <a:xfrm>
            <a:off x="766119" y="2925900"/>
            <a:ext cx="766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400" b="1" noProof="0" dirty="0">
                <a:solidFill>
                  <a:srgbClr val="B95659"/>
                </a:solidFill>
              </a:rPr>
              <a:t>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9F766-4318-42A5-8821-273E7591E2C9}"/>
              </a:ext>
            </a:extLst>
          </p:cNvPr>
          <p:cNvSpPr txBox="1"/>
          <p:nvPr/>
        </p:nvSpPr>
        <p:spPr>
          <a:xfrm>
            <a:off x="766119" y="3802331"/>
            <a:ext cx="766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400" b="1" noProof="0" dirty="0">
                <a:solidFill>
                  <a:srgbClr val="B95659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879AA-A1C5-E50A-3C60-673EF5E095E1}"/>
              </a:ext>
            </a:extLst>
          </p:cNvPr>
          <p:cNvSpPr txBox="1"/>
          <p:nvPr/>
        </p:nvSpPr>
        <p:spPr>
          <a:xfrm>
            <a:off x="766119" y="4732637"/>
            <a:ext cx="766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400" b="1" noProof="0" dirty="0">
                <a:solidFill>
                  <a:srgbClr val="B95659"/>
                </a:solidFill>
              </a:rPr>
              <a:t>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7E727-75CA-D32D-0E0F-D1B41F2D4FDB}"/>
              </a:ext>
            </a:extLst>
          </p:cNvPr>
          <p:cNvSpPr txBox="1"/>
          <p:nvPr/>
        </p:nvSpPr>
        <p:spPr>
          <a:xfrm>
            <a:off x="766119" y="5502078"/>
            <a:ext cx="766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400" b="1" noProof="0" dirty="0">
                <a:solidFill>
                  <a:srgbClr val="B95659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9707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870300-B03F-45F7-9154-521D8C74684E}">
  <ds:schemaRefs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1a61c928-f5f6-4989-bd5d-cb8872a1b06d"/>
    <ds:schemaRef ds:uri="fee82e44-1fa4-4144-8309-00fed2bf4198"/>
  </ds:schemaRefs>
</ds:datastoreItem>
</file>

<file path=customXml/itemProps3.xml><?xml version="1.0" encoding="utf-8"?>
<ds:datastoreItem xmlns:ds="http://schemas.openxmlformats.org/officeDocument/2006/customXml" ds:itemID="{E13A51B5-22DC-4AB4-B1BE-641476C65C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82e44-1fa4-4144-8309-00fed2bf4198"/>
    <ds:schemaRef ds:uri="1a61c928-f5f6-4989-bd5d-cb8872a1b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1925</TotalTime>
  <Words>167</Words>
  <Application>Microsoft Macintosh PowerPoint</Application>
  <PresentationFormat>On-screen Show (4:3)</PresentationFormat>
  <Paragraphs>42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Traducción literal en comparación a la Traducción basada en el significado</vt:lpstr>
      <vt:lpstr>PowerPoint Presentation</vt:lpstr>
      <vt:lpstr>Ejemplos del español a inglés</vt:lpstr>
      <vt:lpstr>AMATB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206</cp:revision>
  <dcterms:created xsi:type="dcterms:W3CDTF">2019-03-18T18:21:25Z</dcterms:created>
  <dcterms:modified xsi:type="dcterms:W3CDTF">2025-04-15T18:30:44Z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