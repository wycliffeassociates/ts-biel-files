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60" r:id="rId5"/>
    <p:sldId id="264" r:id="rId6"/>
    <p:sldId id="295" r:id="rId7"/>
    <p:sldId id="294" r:id="rId8"/>
    <p:sldId id="28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A93D"/>
    <a:srgbClr val="83A83F"/>
    <a:srgbClr val="C3DD93"/>
    <a:srgbClr val="716557"/>
    <a:srgbClr val="B95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97159-3A22-2845-951E-B5405FB181B4}" v="3" dt="2025-03-29T00:55:09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 autoAdjust="0"/>
    <p:restoredTop sz="95655" autoAdjust="0"/>
  </p:normalViewPr>
  <p:slideViewPr>
    <p:cSldViewPr snapToGrid="0">
      <p:cViewPr varScale="1">
        <p:scale>
          <a:sx n="112" d="100"/>
          <a:sy n="112" d="100"/>
        </p:scale>
        <p:origin x="65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04/2025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25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8C7AFD-8577-4907-B9DA-F4B6F3D5F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242"/>
            <a:ext cx="9144000" cy="473392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Pasos de </a:t>
            </a:r>
            <a:r>
              <a:rPr lang="es-ES_tradnl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Redacción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–AMATB 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E1DF7B-1A6B-4461-BA06-D125DA591CE0}"/>
              </a:ext>
            </a:extLst>
          </p:cNvPr>
          <p:cNvSpPr/>
          <p:nvPr/>
        </p:nvSpPr>
        <p:spPr>
          <a:xfrm>
            <a:off x="0" y="2531360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 8 Pasos de AMATB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BD3DDF-024B-408D-B16F-2F02241E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3317218" y="1507044"/>
            <a:ext cx="2509565" cy="251029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E5928-572B-4880-A6BF-E5F72A8F1D3C}"/>
              </a:ext>
            </a:extLst>
          </p:cNvPr>
          <p:cNvSpPr txBox="1"/>
          <p:nvPr/>
        </p:nvSpPr>
        <p:spPr>
          <a:xfrm>
            <a:off x="-80981" y="2591538"/>
            <a:ext cx="34791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Pasos de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</a:t>
            </a:r>
            <a:r>
              <a:rPr lang="en-US" sz="26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edacción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0CBE0-7A09-4871-B7C3-99687A33D0D1}"/>
              </a:ext>
            </a:extLst>
          </p:cNvPr>
          <p:cNvSpPr txBox="1"/>
          <p:nvPr/>
        </p:nvSpPr>
        <p:spPr>
          <a:xfrm>
            <a:off x="5907764" y="2584833"/>
            <a:ext cx="3236235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Pasos de </a:t>
            </a:r>
            <a:r>
              <a:rPr lang="en-US" sz="26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32A223-F66F-4B13-8B58-2FF096AC2185}"/>
              </a:ext>
            </a:extLst>
          </p:cNvPr>
          <p:cNvSpPr txBox="1"/>
          <p:nvPr/>
        </p:nvSpPr>
        <p:spPr>
          <a:xfrm>
            <a:off x="355096" y="3305466"/>
            <a:ext cx="2843894" cy="211481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Consumir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Verbalizar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Agrupar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Borrador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61102-9561-4346-927F-38B586F30AA6}"/>
              </a:ext>
            </a:extLst>
          </p:cNvPr>
          <p:cNvSpPr txBox="1"/>
          <p:nvPr/>
        </p:nvSpPr>
        <p:spPr>
          <a:xfrm>
            <a:off x="5826783" y="3305466"/>
            <a:ext cx="3041093" cy="3300327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Auto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revisar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Revisar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ñero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las palabras claves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verso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verso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99431-31B0-E4E1-958B-DE1EA92CB7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3563" y="5544529"/>
            <a:ext cx="926959" cy="92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1C04763-F15B-4C30-AFF6-BB13942032EA}"/>
              </a:ext>
            </a:extLst>
          </p:cNvPr>
          <p:cNvSpPr/>
          <p:nvPr/>
        </p:nvSpPr>
        <p:spPr>
          <a:xfrm>
            <a:off x="0" y="1858022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CAEE3-B199-4BB7-839B-708EAD1F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</a:t>
            </a:r>
            <a:r>
              <a:rPr lang="en-US" dirty="0" err="1"/>
              <a:t>los</a:t>
            </a:r>
            <a:r>
              <a:rPr lang="en-US" dirty="0"/>
              <a:t> Pasos de </a:t>
            </a:r>
            <a:r>
              <a:rPr lang="en-US" dirty="0" err="1"/>
              <a:t>Redacción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6F8DF6-DC2C-4B50-8440-914720AAB98B}"/>
              </a:ext>
            </a:extLst>
          </p:cNvPr>
          <p:cNvSpPr/>
          <p:nvPr/>
        </p:nvSpPr>
        <p:spPr>
          <a:xfrm>
            <a:off x="1037767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90808-3869-4B49-912A-40B164B405F3}"/>
              </a:ext>
            </a:extLst>
          </p:cNvPr>
          <p:cNvSpPr txBox="1"/>
          <p:nvPr/>
        </p:nvSpPr>
        <p:spPr>
          <a:xfrm>
            <a:off x="156932" y="2554995"/>
            <a:ext cx="2205265" cy="10636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Piensa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significado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pasaje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biblico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A3FF4-442C-40D3-BCF9-CABEA8C0AB3E}"/>
              </a:ext>
            </a:extLst>
          </p:cNvPr>
          <p:cNvSpPr txBox="1"/>
          <p:nvPr/>
        </p:nvSpPr>
        <p:spPr>
          <a:xfrm>
            <a:off x="440414" y="1755171"/>
            <a:ext cx="1638301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Consumir</a:t>
            </a:r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(leer)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1B60E-C6EC-48DA-B54A-D979E549268C}"/>
              </a:ext>
            </a:extLst>
          </p:cNvPr>
          <p:cNvSpPr txBox="1"/>
          <p:nvPr/>
        </p:nvSpPr>
        <p:spPr>
          <a:xfrm>
            <a:off x="2653356" y="1968223"/>
            <a:ext cx="1535856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Verbalizar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C1FFB7-EC76-4A1A-A7F7-4E96655B41B8}"/>
              </a:ext>
            </a:extLst>
          </p:cNvPr>
          <p:cNvSpPr txBox="1"/>
          <p:nvPr/>
        </p:nvSpPr>
        <p:spPr>
          <a:xfrm>
            <a:off x="4921706" y="1924448"/>
            <a:ext cx="14097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Agrupar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260C4-F7A9-4D49-84FE-083736E9FC23}"/>
              </a:ext>
            </a:extLst>
          </p:cNvPr>
          <p:cNvSpPr txBox="1"/>
          <p:nvPr/>
        </p:nvSpPr>
        <p:spPr>
          <a:xfrm>
            <a:off x="6833508" y="1924448"/>
            <a:ext cx="210638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Borrador</a:t>
            </a:r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6EDCE2-6D09-457C-8366-FE8763D36D78}"/>
              </a:ext>
            </a:extLst>
          </p:cNvPr>
          <p:cNvSpPr/>
          <p:nvPr/>
        </p:nvSpPr>
        <p:spPr>
          <a:xfrm>
            <a:off x="3199488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1033EA-6D7B-4E5A-B82C-F77FDC2388B6}"/>
              </a:ext>
            </a:extLst>
          </p:cNvPr>
          <p:cNvSpPr/>
          <p:nvPr/>
        </p:nvSpPr>
        <p:spPr>
          <a:xfrm>
            <a:off x="5404759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5593841-0176-4AC1-BB8D-16FA7539F351}"/>
              </a:ext>
            </a:extLst>
          </p:cNvPr>
          <p:cNvSpPr/>
          <p:nvPr/>
        </p:nvSpPr>
        <p:spPr>
          <a:xfrm>
            <a:off x="7664902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A8526-AA23-4FEA-857C-75D64CB006F7}"/>
              </a:ext>
            </a:extLst>
          </p:cNvPr>
          <p:cNvSpPr txBox="1"/>
          <p:nvPr/>
        </p:nvSpPr>
        <p:spPr>
          <a:xfrm>
            <a:off x="2318653" y="2554995"/>
            <a:ext cx="2205265" cy="10636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Resumir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pasaje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algún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compañero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8B502C-7EE9-4CBC-BD9F-597978B6E3EC}"/>
              </a:ext>
            </a:extLst>
          </p:cNvPr>
          <p:cNvSpPr txBox="1"/>
          <p:nvPr/>
        </p:nvSpPr>
        <p:spPr>
          <a:xfrm>
            <a:off x="4466088" y="2554995"/>
            <a:ext cx="2375806" cy="1722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Agrupa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pasaje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porciones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más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pequeñas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basado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significado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del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pasaje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FD631-E4B7-45D7-AC4A-1DF100D16A8D}"/>
              </a:ext>
            </a:extLst>
          </p:cNvPr>
          <p:cNvSpPr txBox="1"/>
          <p:nvPr/>
        </p:nvSpPr>
        <p:spPr>
          <a:xfrm>
            <a:off x="6784067" y="2554995"/>
            <a:ext cx="2205265" cy="13930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Prepara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un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borrador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por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cada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porción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a base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tu</a:t>
            </a: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memoria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4777EE-060A-44D5-8C75-EB29424C9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9" r="15979"/>
          <a:stretch/>
        </p:blipFill>
        <p:spPr>
          <a:xfrm>
            <a:off x="3147085" y="4640391"/>
            <a:ext cx="3654049" cy="1912286"/>
          </a:xfrm>
          <a:prstGeom prst="rightArrow">
            <a:avLst>
              <a:gd name="adj1" fmla="val 76002"/>
              <a:gd name="adj2" fmla="val 50000"/>
            </a:avLst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950D81F-1230-58CE-B327-EDF67F328D07}"/>
              </a:ext>
            </a:extLst>
          </p:cNvPr>
          <p:cNvSpPr/>
          <p:nvPr/>
        </p:nvSpPr>
        <p:spPr>
          <a:xfrm>
            <a:off x="2590279" y="4382843"/>
            <a:ext cx="1662009" cy="340519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 119:13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5C5D532-48B5-648D-329D-B10317A13A4A}"/>
              </a:ext>
            </a:extLst>
          </p:cNvPr>
          <p:cNvSpPr/>
          <p:nvPr/>
        </p:nvSpPr>
        <p:spPr>
          <a:xfrm>
            <a:off x="416706" y="4382842"/>
            <a:ext cx="1662009" cy="340519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 119:103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ECDB63A-2EA3-69B0-BC39-C7A51F08F5CD}"/>
              </a:ext>
            </a:extLst>
          </p:cNvPr>
          <p:cNvSpPr/>
          <p:nvPr/>
        </p:nvSpPr>
        <p:spPr>
          <a:xfrm>
            <a:off x="4795551" y="4354758"/>
            <a:ext cx="1662009" cy="340519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 119:18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4C5D905-49FE-157D-89E4-26313C1B0673}"/>
              </a:ext>
            </a:extLst>
          </p:cNvPr>
          <p:cNvSpPr/>
          <p:nvPr/>
        </p:nvSpPr>
        <p:spPr>
          <a:xfrm>
            <a:off x="7038291" y="4354758"/>
            <a:ext cx="1662009" cy="340519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 119:11–12</a:t>
            </a:r>
          </a:p>
        </p:txBody>
      </p:sp>
    </p:spTree>
    <p:extLst>
      <p:ext uri="{BB962C8B-B14F-4D97-AF65-F5344CB8AC3E}">
        <p14:creationId xmlns:p14="http://schemas.microsoft.com/office/powerpoint/2010/main" val="264334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5" grpId="0"/>
      <p:bldP spid="26" grpId="0"/>
      <p:bldP spid="27" grpId="0"/>
      <p:bldP spid="3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3"/>
            <a:ext cx="9144000" cy="2234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042673" y="168881"/>
            <a:ext cx="2671787" cy="3627573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564781" y="1208314"/>
            <a:ext cx="36275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Inténtalo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C96EE73-B932-4E37-B42E-19FF7E0CB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943441"/>
              </p:ext>
            </p:extLst>
          </p:nvPr>
        </p:nvGraphicFramePr>
        <p:xfrm>
          <a:off x="1521940" y="3582506"/>
          <a:ext cx="6100120" cy="1900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0120">
                  <a:extLst>
                    <a:ext uri="{9D8B030D-6E8A-4147-A177-3AD203B41FA5}">
                      <a16:colId xmlns:a16="http://schemas.microsoft.com/office/drawing/2014/main" val="1226750967"/>
                    </a:ext>
                  </a:extLst>
                </a:gridCol>
              </a:tblGrid>
              <a:tr h="6344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725742"/>
                  </a:ext>
                </a:extLst>
              </a:tr>
              <a:tr h="631255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021588"/>
                  </a:ext>
                </a:extLst>
              </a:tr>
              <a:tr h="6344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3862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219C8C-AF4F-975C-6AAC-8D9039246FB8}"/>
              </a:ext>
            </a:extLst>
          </p:cNvPr>
          <p:cNvSpPr txBox="1"/>
          <p:nvPr/>
        </p:nvSpPr>
        <p:spPr>
          <a:xfrm>
            <a:off x="1569307" y="3594652"/>
            <a:ext cx="6100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ea typeface="MS Mincho" panose="02020609040205080304" pitchFamily="49" charset="-128"/>
              </a:rPr>
              <a:t>¿</a:t>
            </a:r>
            <a:r>
              <a:rPr lang="en-US" sz="2400" b="1" dirty="0" err="1"/>
              <a:t>Estás</a:t>
            </a:r>
            <a:r>
              <a:rPr lang="en-US" sz="2400" b="1" dirty="0"/>
              <a:t> </a:t>
            </a:r>
            <a:r>
              <a:rPr lang="en-US" sz="2400" b="1" dirty="0" err="1"/>
              <a:t>sorprendido</a:t>
            </a:r>
            <a:r>
              <a:rPr lang="en-US" sz="2400" b="1" dirty="0"/>
              <a:t> de lo que </a:t>
            </a:r>
            <a:r>
              <a:rPr lang="en-US" sz="2400" b="1" dirty="0" err="1"/>
              <a:t>lograste</a:t>
            </a:r>
            <a:r>
              <a:rPr lang="en-US" sz="2400" b="1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1CB6A-D121-0DB6-D628-EC65A978603F}"/>
              </a:ext>
            </a:extLst>
          </p:cNvPr>
          <p:cNvSpPr txBox="1"/>
          <p:nvPr/>
        </p:nvSpPr>
        <p:spPr>
          <a:xfrm>
            <a:off x="2790568" y="4301737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ea typeface="MS Mincho" panose="02020609040205080304" pitchFamily="49" charset="-128"/>
              </a:rPr>
              <a:t>¿</a:t>
            </a:r>
            <a:r>
              <a:rPr lang="en-US" sz="2400" b="1" dirty="0" err="1"/>
              <a:t>Qué</a:t>
            </a:r>
            <a:r>
              <a:rPr lang="en-US" sz="2400" b="1" dirty="0"/>
              <a:t> </a:t>
            </a:r>
            <a:r>
              <a:rPr lang="en-US" sz="2400" b="1" dirty="0" err="1"/>
              <a:t>te</a:t>
            </a:r>
            <a:r>
              <a:rPr lang="en-US" sz="2400" b="1" dirty="0"/>
              <a:t> </a:t>
            </a:r>
            <a:r>
              <a:rPr lang="en-US" sz="2400" b="1" dirty="0" err="1"/>
              <a:t>fue</a:t>
            </a:r>
            <a:r>
              <a:rPr lang="en-US" sz="2400" b="1" dirty="0"/>
              <a:t> </a:t>
            </a:r>
            <a:r>
              <a:rPr lang="en-US" sz="2400" b="1" dirty="0" err="1"/>
              <a:t>difícil</a:t>
            </a:r>
            <a:r>
              <a:rPr lang="en-US" sz="2400" b="1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36A46-5A90-7FE8-485F-F069E5DD730C}"/>
              </a:ext>
            </a:extLst>
          </p:cNvPr>
          <p:cNvSpPr txBox="1"/>
          <p:nvPr/>
        </p:nvSpPr>
        <p:spPr>
          <a:xfrm>
            <a:off x="448963" y="4957189"/>
            <a:ext cx="8340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ea typeface="MS Mincho" panose="02020609040205080304" pitchFamily="49" charset="-128"/>
              </a:rPr>
              <a:t>¿</a:t>
            </a:r>
            <a:r>
              <a:rPr lang="en-US" sz="2400" b="1" dirty="0" err="1"/>
              <a:t>Estás</a:t>
            </a:r>
            <a:r>
              <a:rPr lang="en-US" sz="2400" b="1" dirty="0"/>
              <a:t> </a:t>
            </a:r>
            <a:r>
              <a:rPr lang="en-US" sz="2400" b="1" dirty="0" err="1"/>
              <a:t>listo</a:t>
            </a:r>
            <a:r>
              <a:rPr lang="en-US" sz="2400" b="1" dirty="0"/>
              <a:t> para </a:t>
            </a:r>
            <a:r>
              <a:rPr lang="en-US" sz="2400" b="1" dirty="0" err="1"/>
              <a:t>los</a:t>
            </a:r>
            <a:r>
              <a:rPr lang="en-US" sz="2400" b="1" dirty="0"/>
              <a:t> </a:t>
            </a:r>
            <a:r>
              <a:rPr lang="en-US" sz="2400" b="1" dirty="0" err="1"/>
              <a:t>próximos</a:t>
            </a:r>
            <a:r>
              <a:rPr lang="en-US" sz="2400" b="1" dirty="0"/>
              <a:t> pasos?</a:t>
            </a:r>
          </a:p>
        </p:txBody>
      </p:sp>
    </p:spTree>
    <p:extLst>
      <p:ext uri="{BB962C8B-B14F-4D97-AF65-F5344CB8AC3E}">
        <p14:creationId xmlns:p14="http://schemas.microsoft.com/office/powerpoint/2010/main" val="223062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fee82e44-1fa4-4144-8309-00fed2bf4198" xsi:nil="true"/>
    <SharedWithUsers xmlns="1a61c928-f5f6-4989-bd5d-cb8872a1b06d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AC0A2F46-279F-4A15-8083-E62554B69F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e82e44-1fa4-4144-8309-00fed2bf4198"/>
    <ds:schemaRef ds:uri="1a61c928-f5f6-4989-bd5d-cb8872a1b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870300-B03F-45F7-9154-521D8C74684E}">
  <ds:schemaRefs>
    <ds:schemaRef ds:uri="http://schemas.openxmlformats.org/package/2006/metadata/core-properties"/>
    <ds:schemaRef ds:uri="http://purl.org/dc/dcmitype/"/>
    <ds:schemaRef ds:uri="fee82e44-1fa4-4144-8309-00fed2bf4198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1a61c928-f5f6-4989-bd5d-cb8872a1b06d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1598</TotalTime>
  <Words>124</Words>
  <Application>Microsoft Macintosh PowerPoint</Application>
  <PresentationFormat>On-screen Show (4:3)</PresentationFormat>
  <Paragraphs>37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Los 8 Pasos de AMATB</vt:lpstr>
      <vt:lpstr>Define los Pasos de Redacción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208</cp:revision>
  <dcterms:created xsi:type="dcterms:W3CDTF">2019-03-18T18:21:25Z</dcterms:created>
  <dcterms:modified xsi:type="dcterms:W3CDTF">2025-04-15T18:09:33Z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  <property fmtid="{D5CDD505-2E9C-101B-9397-08002B2CF9AE}" pid="3" name="Order">
    <vt:r8>535100</vt:r8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